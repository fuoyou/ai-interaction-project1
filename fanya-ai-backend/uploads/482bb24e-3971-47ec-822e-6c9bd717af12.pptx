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9"/>
  </p:notesMasterIdLst>
  <p:sldIdLst>
    <p:sldId id="256" r:id="rId2"/>
    <p:sldId id="277" r:id="rId3"/>
    <p:sldId id="259" r:id="rId4"/>
    <p:sldId id="291" r:id="rId5"/>
    <p:sldId id="285" r:id="rId6"/>
    <p:sldId id="263" r:id="rId7"/>
    <p:sldId id="295" r:id="rId8"/>
    <p:sldId id="265" r:id="rId9"/>
    <p:sldId id="292" r:id="rId10"/>
    <p:sldId id="266" r:id="rId11"/>
    <p:sldId id="267" r:id="rId12"/>
    <p:sldId id="271" r:id="rId13"/>
    <p:sldId id="298" r:id="rId14"/>
    <p:sldId id="272" r:id="rId15"/>
    <p:sldId id="296" r:id="rId16"/>
    <p:sldId id="281" r:id="rId17"/>
    <p:sldId id="276" r:id="rId18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C7CB6E6-CD48-4112-B8ED-660ECEBB0635}">
          <p14:sldIdLst>
            <p14:sldId id="256"/>
            <p14:sldId id="277"/>
            <p14:sldId id="259"/>
            <p14:sldId id="291"/>
            <p14:sldId id="285"/>
            <p14:sldId id="263"/>
            <p14:sldId id="295"/>
            <p14:sldId id="265"/>
            <p14:sldId id="292"/>
            <p14:sldId id="266"/>
            <p14:sldId id="267"/>
            <p14:sldId id="271"/>
            <p14:sldId id="298"/>
            <p14:sldId id="272"/>
            <p14:sldId id="296"/>
            <p14:sldId id="281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8000"/>
    <a:srgbClr val="FF33CC"/>
    <a:srgbClr val="33CCFF"/>
    <a:srgbClr val="FFFF00"/>
    <a:srgbClr val="FF66FF"/>
    <a:srgbClr val="3399FF"/>
    <a:srgbClr val="009999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81404" autoAdjust="0"/>
  </p:normalViewPr>
  <p:slideViewPr>
    <p:cSldViewPr>
      <p:cViewPr>
        <p:scale>
          <a:sx n="77" d="100"/>
          <a:sy n="77" d="100"/>
        </p:scale>
        <p:origin x="-2136" y="-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8.wmf"/><Relationship Id="rId1" Type="http://schemas.openxmlformats.org/officeDocument/2006/relationships/image" Target="../media/image17.e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4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ClrTx/>
              <a:buFontTx/>
              <a:buNone/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buClrTx/>
              <a:buFontTx/>
              <a:buNone/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AB23C687-B926-4EF2-9B8B-484B18C0B0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43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这节课我们分成四部分学习圆轴扭转切应力</a:t>
            </a:r>
            <a:endParaRPr lang="en-US" altLang="zh-CN" smtClean="0"/>
          </a:p>
          <a:p>
            <a:r>
              <a:rPr lang="zh-CN" altLang="en-US" smtClean="0"/>
              <a:t>首先我们看变形几何关系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2249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要分析变形几何关系，首先我们要搞清楚圆轴到底是怎么变形的。好，我们看视频</a:t>
            </a:r>
            <a:endParaRPr lang="en-US" altLang="zh-CN" smtClean="0"/>
          </a:p>
          <a:p>
            <a:r>
              <a:rPr lang="zh-CN" altLang="en-US" smtClean="0"/>
              <a:t>这就是圆轴扭转后的变形图。从整个变形过程，我们得到这四个现象。</a:t>
            </a:r>
            <a:endParaRPr lang="en-US" altLang="zh-CN" smtClean="0"/>
          </a:p>
          <a:p>
            <a:r>
              <a:rPr lang="zh-CN" altLang="en-US" smtClean="0"/>
              <a:t>我们由这些现象得到什么，很多同学马上说圆轴有切应变的。那么我问大家，圆轴有变长吗，有变粗、细吗？没有，那这代表什么呢？</a:t>
            </a:r>
            <a:endParaRPr lang="en-US" altLang="zh-CN" smtClean="0"/>
          </a:p>
          <a:p>
            <a:r>
              <a:rPr lang="zh-CN" altLang="en-US" smtClean="0"/>
              <a:t>还有一个问题，通过实验我们观察到了这些现象，同学们来想，这样就足够了吗？我们现在就能分析圆轴的变形了吗？</a:t>
            </a:r>
            <a:endParaRPr lang="en-US" altLang="zh-CN" smtClean="0"/>
          </a:p>
          <a:p>
            <a:r>
              <a:rPr lang="zh-CN" altLang="en-US" smtClean="0"/>
              <a:t>不能，我们所看到的变形仅仅是圆轴表面的变形，圆轴内部的变形是怎么样的，我们看不到。那是不是就说我们没法求了？</a:t>
            </a:r>
            <a:endParaRPr lang="en-US" altLang="zh-CN" smtClean="0"/>
          </a:p>
          <a:p>
            <a:r>
              <a:rPr lang="zh-CN" altLang="en-US" smtClean="0"/>
              <a:t>（它还有内部，要找到变形几何特点，我们还需要找到它内部的变形特点；）</a:t>
            </a:r>
            <a:endParaRPr lang="en-US" altLang="zh-CN" smtClean="0"/>
          </a:p>
          <a:p>
            <a:r>
              <a:rPr lang="zh-CN" altLang="en-US" smtClean="0"/>
              <a:t>当然不是？虽然看不到圆轴内部的变形，但我们看到圆轴表面的变形的吧！我们可以推测内部的变化吧。</a:t>
            </a:r>
            <a:endParaRPr lang="en-US" altLang="zh-CN" smtClean="0"/>
          </a:p>
          <a:p>
            <a:r>
              <a:rPr lang="zh-CN" altLang="en-US" smtClean="0"/>
              <a:t>我们得到这样一个假设</a:t>
            </a: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对我们是知道的，这就是胡克定律！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最后有静力学关系：横截面应力向轴心简化的结果就是横截面内力扭矩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通过静力平衡关系得到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最后回到我们开始上课提到的问题上来，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3C687-B926-4EF2-9B8B-484B18C0B0D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BAB5E-75B7-4C57-8876-C5D7E298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EDECC-E2BE-4F50-AD7A-96F2E88BA7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74C0B-5175-492C-AC64-98D6A9D88C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E53BD-7941-4E1F-9AD5-E1B3E968EF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FE1BE-ED55-4434-BFEC-CD019799B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1FF6F-2F5A-4D62-B2B6-846D929914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0" y="6381750"/>
            <a:ext cx="785786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F7CDA-3DEB-420C-AD36-DFBCE9DF80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>
          <a:xfrm>
            <a:off x="6748463" y="6357938"/>
            <a:ext cx="2395537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47668-6175-4188-BF9D-DC48DA02B0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Material Mechanics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8085E-2906-4176-BD75-0767DF8981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2"/>
          <p:cNvSpPr txBox="1">
            <a:spLocks noChangeArrowheads="1"/>
          </p:cNvSpPr>
          <p:nvPr userDrawn="1"/>
        </p:nvSpPr>
        <p:spPr bwMode="auto">
          <a:xfrm>
            <a:off x="2357438" y="4643438"/>
            <a:ext cx="1841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Tx/>
              <a:buFontTx/>
              <a:buNone/>
              <a:defRPr/>
            </a:pPr>
            <a:endParaRPr kumimoji="1" lang="zh-CN" altLang="en-US" b="1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13" name="Rectangle 1033"/>
          <p:cNvSpPr>
            <a:spLocks noChangeArrowheads="1"/>
          </p:cNvSpPr>
          <p:nvPr userDrawn="1"/>
        </p:nvSpPr>
        <p:spPr bwMode="auto">
          <a:xfrm>
            <a:off x="334963" y="3355975"/>
            <a:ext cx="184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endParaRPr lang="zh-CN" altLang="zh-CN" sz="4000" b="1">
              <a:solidFill>
                <a:srgbClr val="00FF00"/>
              </a:solidFill>
            </a:endParaRPr>
          </a:p>
        </p:txBody>
      </p: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71406" y="571480"/>
            <a:ext cx="8959849" cy="90488"/>
            <a:chOff x="214" y="528"/>
            <a:chExt cx="5644" cy="57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590" y="559"/>
              <a:ext cx="226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14" y="528"/>
              <a:ext cx="3401" cy="57"/>
            </a:xfrm>
            <a:prstGeom prst="rect">
              <a:avLst/>
            </a:prstGeom>
            <a:gradFill rotWithShape="1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zh-CN" sz="2800">
                <a:latin typeface="Tahoma" pitchFamily="34" charset="0"/>
              </a:endParaRPr>
            </a:p>
          </p:txBody>
        </p:sp>
      </p:grpSp>
      <p:sp>
        <p:nvSpPr>
          <p:cNvPr id="16" name="Rectangle 5"/>
          <p:cNvSpPr txBox="1">
            <a:spLocks noChangeArrowheads="1"/>
          </p:cNvSpPr>
          <p:nvPr userDrawn="1"/>
        </p:nvSpPr>
        <p:spPr>
          <a:xfrm>
            <a:off x="7143768" y="71414"/>
            <a:ext cx="1928826" cy="476250"/>
          </a:xfrm>
          <a:prstGeom prst="rect">
            <a:avLst/>
          </a:prstGeom>
        </p:spPr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Arial" pitchFamily="34" charset="0"/>
              </a:rPr>
              <a:t>材料力学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rgbClr val="0000FF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rgbClr val="0000FF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rgbClr val="0000FF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rgbClr val="0000FF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rgbClr val="0000FF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video" Target="file:///I:\2016.12%20&#26657;&#35762;&#35838;&#27604;&#36187;\2016.12.21.&#31532;&#22235;&#31295;\1.&#25197;&#36716;&#20999;&#24212;&#21147;\nz2.AVI" TargetMode="Externa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12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8.bin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12.wmf"/><Relationship Id="rId1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6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tags" Target="../tags/tag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1.wmf"/><Relationship Id="rId4" Type="http://schemas.openxmlformats.org/officeDocument/2006/relationships/notesSlide" Target="../notesSlides/notesSlide8.xml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2" Type="http://schemas.openxmlformats.org/officeDocument/2006/relationships/tags" Target="../tags/tag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3.wmf"/><Relationship Id="rId4" Type="http://schemas.openxmlformats.org/officeDocument/2006/relationships/notesSlide" Target="../notesSlides/notesSlide9.xml"/><Relationship Id="rId9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2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27.bin"/><Relationship Id="rId2" Type="http://schemas.openxmlformats.org/officeDocument/2006/relationships/tags" Target="../tags/tag6.xml"/><Relationship Id="rId16" Type="http://schemas.openxmlformats.org/officeDocument/2006/relationships/image" Target="../media/image31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8.emf"/><Relationship Id="rId4" Type="http://schemas.openxmlformats.org/officeDocument/2006/relationships/notesSlide" Target="../notesSlides/notesSlide10.xml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6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5.bin"/><Relationship Id="rId2" Type="http://schemas.openxmlformats.org/officeDocument/2006/relationships/tags" Target="../tags/tag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9.wmf"/><Relationship Id="rId5" Type="http://schemas.openxmlformats.org/officeDocument/2006/relationships/audio" Target="../media/audio2.wav"/><Relationship Id="rId10" Type="http://schemas.openxmlformats.org/officeDocument/2006/relationships/oleObject" Target="../embeddings/oleObject34.bin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38.wmf"/><Relationship Id="rId14" Type="http://schemas.openxmlformats.org/officeDocument/2006/relationships/image" Target="../media/image40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30"/>
          <p:cNvSpPr txBox="1">
            <a:spLocks noChangeArrowheads="1"/>
          </p:cNvSpPr>
          <p:nvPr/>
        </p:nvSpPr>
        <p:spPr bwMode="auto">
          <a:xfrm>
            <a:off x="-32" y="214290"/>
            <a:ext cx="6072188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Tx/>
              <a:buFontTx/>
              <a:buNone/>
            </a:pPr>
            <a:r>
              <a:rPr kumimoji="1" lang="zh-CN" altLang="en-US" sz="2800" b="1" smtClean="0">
                <a:solidFill>
                  <a:srgbClr val="333399"/>
                </a:solidFill>
                <a:latin typeface="华文行楷" pitchFamily="2" charset="-122"/>
                <a:ea typeface="华文行楷" pitchFamily="2" charset="-122"/>
              </a:rPr>
              <a:t>山东科技大学</a:t>
            </a:r>
            <a:r>
              <a:rPr kumimoji="1" lang="en-US" altLang="zh-CN" sz="2800" b="1" smtClean="0">
                <a:solidFill>
                  <a:srgbClr val="333399"/>
                </a:solidFill>
                <a:latin typeface="华文行楷" pitchFamily="2" charset="-122"/>
                <a:ea typeface="华文行楷" pitchFamily="2" charset="-122"/>
              </a:rPr>
              <a:t>2016</a:t>
            </a:r>
            <a:r>
              <a:rPr kumimoji="1" lang="zh-CN" altLang="en-US" sz="2800" b="1" smtClean="0">
                <a:solidFill>
                  <a:srgbClr val="333399"/>
                </a:solidFill>
                <a:latin typeface="华文行楷" pitchFamily="2" charset="-122"/>
                <a:ea typeface="华文行楷" pitchFamily="2" charset="-122"/>
              </a:rPr>
              <a:t>年讲课比赛</a:t>
            </a:r>
            <a:endParaRPr kumimoji="1" lang="zh-CN" altLang="en-US" sz="2800" b="1">
              <a:solidFill>
                <a:srgbClr val="333399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4581" name="Text Box 32"/>
          <p:cNvSpPr txBox="1">
            <a:spLocks noChangeArrowheads="1"/>
          </p:cNvSpPr>
          <p:nvPr/>
        </p:nvSpPr>
        <p:spPr bwMode="auto">
          <a:xfrm>
            <a:off x="2357438" y="4643438"/>
            <a:ext cx="1841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Tx/>
              <a:buFontTx/>
              <a:buNone/>
            </a:pPr>
            <a:endParaRPr kumimoji="1" lang="zh-CN" altLang="en-US" b="1">
              <a:solidFill>
                <a:srgbClr val="333399"/>
              </a:solidFill>
              <a:latin typeface="Times New Roman" pitchFamily="18" charset="0"/>
            </a:endParaRPr>
          </a:p>
        </p:txBody>
      </p:sp>
      <p:pic>
        <p:nvPicPr>
          <p:cNvPr id="24582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526" y="0"/>
            <a:ext cx="827474" cy="78579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3" name="Rectangle 1033"/>
          <p:cNvSpPr>
            <a:spLocks noChangeArrowheads="1"/>
          </p:cNvSpPr>
          <p:nvPr/>
        </p:nvSpPr>
        <p:spPr bwMode="auto">
          <a:xfrm>
            <a:off x="334963" y="3355975"/>
            <a:ext cx="184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lang="zh-CN" altLang="zh-CN" sz="4000" b="1">
              <a:solidFill>
                <a:srgbClr val="00FF00"/>
              </a:solidFill>
            </a:endParaRPr>
          </a:p>
        </p:txBody>
      </p:sp>
      <p:sp>
        <p:nvSpPr>
          <p:cNvPr id="24584" name="矩形 17"/>
          <p:cNvSpPr>
            <a:spLocks noChangeArrowheads="1"/>
          </p:cNvSpPr>
          <p:nvPr/>
        </p:nvSpPr>
        <p:spPr bwMode="auto">
          <a:xfrm>
            <a:off x="142844" y="2681044"/>
            <a:ext cx="864399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6600" b="1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Times New Roman" pitchFamily="18" charset="0"/>
              </a:rPr>
              <a:t>圆</a:t>
            </a:r>
            <a:r>
              <a:rPr lang="zh-CN" altLang="en-US" sz="66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Times New Roman" pitchFamily="18" charset="0"/>
              </a:rPr>
              <a:t>轴扭转时的切应力</a:t>
            </a:r>
            <a:endParaRPr lang="zh-CN" altLang="en-US" sz="660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4585" name="Rectangle 14"/>
          <p:cNvSpPr>
            <a:spLocks noChangeArrowheads="1"/>
          </p:cNvSpPr>
          <p:nvPr/>
        </p:nvSpPr>
        <p:spPr bwMode="auto">
          <a:xfrm>
            <a:off x="0" y="6215063"/>
            <a:ext cx="164306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defTabSz="1069975"/>
            <a:r>
              <a:rPr lang="zh-CN" altLang="en-US" sz="2800" b="1">
                <a:latin typeface="华文行楷" pitchFamily="2" charset="-122"/>
                <a:ea typeface="华文行楷" pitchFamily="2" charset="-122"/>
              </a:rPr>
              <a:t>材料力学</a:t>
            </a:r>
          </a:p>
        </p:txBody>
      </p:sp>
      <p:sp>
        <p:nvSpPr>
          <p:cNvPr id="24586" name="Text Box 7"/>
          <p:cNvSpPr txBox="1">
            <a:spLocks noChangeArrowheads="1"/>
          </p:cNvSpPr>
          <p:nvPr/>
        </p:nvSpPr>
        <p:spPr bwMode="auto">
          <a:xfrm>
            <a:off x="5341938" y="6215063"/>
            <a:ext cx="3802062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6985" tIns="53492" rIns="106985" bIns="53492">
            <a:spAutoFit/>
          </a:bodyPr>
          <a:lstStyle/>
          <a:p>
            <a:pPr algn="l" defTabSz="1069975"/>
            <a:r>
              <a:rPr lang="en-US" altLang="zh-CN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Mechanics of Materials</a:t>
            </a:r>
          </a:p>
        </p:txBody>
      </p:sp>
      <p:cxnSp>
        <p:nvCxnSpPr>
          <p:cNvPr id="24587" name="直接连接符 13"/>
          <p:cNvCxnSpPr>
            <a:cxnSpLocks noChangeShapeType="1"/>
          </p:cNvCxnSpPr>
          <p:nvPr/>
        </p:nvCxnSpPr>
        <p:spPr bwMode="auto">
          <a:xfrm>
            <a:off x="0" y="6215063"/>
            <a:ext cx="9144000" cy="1587"/>
          </a:xfrm>
          <a:prstGeom prst="line">
            <a:avLst/>
          </a:prstGeom>
          <a:noFill/>
          <a:ln w="28575" algn="ctr">
            <a:solidFill>
              <a:srgbClr val="00B0F0"/>
            </a:solidFill>
            <a:round/>
            <a:headEnd/>
            <a:tailEnd/>
          </a:ln>
        </p:spPr>
      </p:cxnSp>
      <p:cxnSp>
        <p:nvCxnSpPr>
          <p:cNvPr id="24588" name="直接连接符 15"/>
          <p:cNvCxnSpPr>
            <a:cxnSpLocks noChangeShapeType="1"/>
          </p:cNvCxnSpPr>
          <p:nvPr/>
        </p:nvCxnSpPr>
        <p:spPr bwMode="auto">
          <a:xfrm flipV="1">
            <a:off x="0" y="857232"/>
            <a:ext cx="9001156" cy="17"/>
          </a:xfrm>
          <a:prstGeom prst="line">
            <a:avLst/>
          </a:prstGeom>
          <a:noFill/>
          <a:ln w="28575" algn="ctr">
            <a:solidFill>
              <a:srgbClr val="00B0F0"/>
            </a:solidFill>
            <a:round/>
            <a:headEnd/>
            <a:tailEnd/>
          </a:ln>
        </p:spPr>
      </p:cxnSp>
    </p:spTree>
  </p:cSld>
  <p:clrMapOvr>
    <a:masterClrMapping/>
  </p:clrMapOvr>
  <p:transition advTm="81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83568" y="4797152"/>
            <a:ext cx="7643866" cy="18573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/>
          <a:lstStyle/>
          <a:p>
            <a:pPr marL="401638" indent="-401638" algn="l" defTabSz="1069975" eaLnBrk="0" hangingPunct="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Symbol" pitchFamily="18" charset="2"/>
              <a:buNone/>
            </a:pPr>
            <a:r>
              <a:rPr lang="zh-CN" altLang="en-US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问题：</a:t>
            </a:r>
          </a:p>
          <a:p>
            <a:pPr marL="401638" indent="-401638" algn="l" defTabSz="1069975" eaLnBrk="0" hangingPunct="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Symbol" pitchFamily="18" charset="2"/>
              <a:buNone/>
            </a:pPr>
            <a:r>
              <a:rPr lang="en-US" altLang="zh-CN" sz="3200" b="1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3200" b="1" smtClean="0">
                <a:latin typeface="楷体" pitchFamily="49" charset="-122"/>
                <a:ea typeface="楷体" pitchFamily="49" charset="-122"/>
              </a:rPr>
              <a:t>如何计算圆轴扭转时的切应力？</a:t>
            </a:r>
            <a:endParaRPr lang="en-US" altLang="zh-CN" sz="3200" b="1" smtClean="0">
              <a:latin typeface="楷体" pitchFamily="49" charset="-122"/>
              <a:ea typeface="楷体" pitchFamily="49" charset="-122"/>
            </a:endParaRPr>
          </a:p>
          <a:p>
            <a:pPr marL="401638" indent="-401638" algn="l" defTabSz="1069975" eaLnBrk="0" hangingPunct="0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Symbol" pitchFamily="18" charset="2"/>
              <a:buNone/>
            </a:pPr>
            <a:r>
              <a:rPr lang="en-US" altLang="zh-CN" sz="3200" b="1" smtClean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3200" b="1" smtClean="0">
                <a:latin typeface="楷体" pitchFamily="49" charset="-122"/>
                <a:ea typeface="楷体" pitchFamily="49" charset="-122"/>
              </a:rPr>
              <a:t>为什么汽车传动轴设计成空心结构？</a:t>
            </a:r>
            <a:endParaRPr lang="zh-CN" altLang="en-US" sz="3200" b="1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25606" name="Picture 7" descr="201201160301178fc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620688"/>
            <a:ext cx="2845224" cy="2083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6688" y="1268760"/>
            <a:ext cx="4692969" cy="356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Box 30"/>
          <p:cNvSpPr txBox="1">
            <a:spLocks noChangeArrowheads="1"/>
          </p:cNvSpPr>
          <p:nvPr/>
        </p:nvSpPr>
        <p:spPr bwMode="auto">
          <a:xfrm>
            <a:off x="71406" y="71414"/>
            <a:ext cx="214314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Tx/>
              <a:buFontTx/>
              <a:buNone/>
            </a:pPr>
            <a:r>
              <a:rPr kumimoji="1" lang="zh-CN" altLang="en-US" sz="3200" b="1" smtClean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圆轴扭转</a:t>
            </a:r>
            <a:endParaRPr kumimoji="1" lang="zh-CN" altLang="en-US" sz="3200" b="1">
              <a:solidFill>
                <a:schemeClr val="tx2"/>
              </a:solidFill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43362" name="Picture 2" descr="C:\Users\Administrator\Desktop\水力涡轮机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855" y="2708920"/>
            <a:ext cx="38576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 advTm="1023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1785918" y="2857496"/>
            <a:ext cx="6286544" cy="133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32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一、</a:t>
            </a:r>
            <a:r>
              <a:rPr lang="zh-CN" altLang="en-US" sz="32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圆轴扭转切应力计算</a:t>
            </a:r>
            <a:endParaRPr lang="en-US" altLang="zh-CN" sz="3200" b="1" smtClean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  <a:p>
            <a:pPr algn="l" defTabSz="1069975">
              <a:spcBef>
                <a:spcPct val="50000"/>
              </a:spcBef>
            </a:pPr>
            <a:r>
              <a:rPr lang="zh-CN" altLang="en-US" sz="32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二、圆轴扭转切应力应用</a:t>
            </a:r>
            <a:endParaRPr lang="en-US" altLang="zh-CN" sz="32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2714612" y="1505538"/>
            <a:ext cx="3500462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Tx/>
              <a:buFontTx/>
              <a:buNone/>
            </a:pPr>
            <a:r>
              <a:rPr kumimoji="1" lang="zh-CN" altLang="en-US" sz="5400" b="1" smtClean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内容提要</a:t>
            </a:r>
            <a:endParaRPr kumimoji="1" lang="zh-CN" altLang="en-US" sz="5400" b="1">
              <a:solidFill>
                <a:schemeClr val="tx2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 Box 30"/>
          <p:cNvSpPr txBox="1">
            <a:spLocks noChangeArrowheads="1"/>
          </p:cNvSpPr>
          <p:nvPr/>
        </p:nvSpPr>
        <p:spPr bwMode="auto">
          <a:xfrm>
            <a:off x="-32" y="0"/>
            <a:ext cx="214314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Tx/>
              <a:buFontTx/>
              <a:buNone/>
            </a:pPr>
            <a:r>
              <a:rPr kumimoji="1" lang="zh-CN" altLang="en-US" sz="2800" b="1" smtClean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圆轴扭转</a:t>
            </a:r>
            <a:endParaRPr kumimoji="1" lang="zh-CN" altLang="en-US" sz="2800" b="1">
              <a:solidFill>
                <a:schemeClr val="tx2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advTm="25459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"/>
          <p:cNvSpPr txBox="1">
            <a:spLocks noChangeArrowheads="1"/>
          </p:cNvSpPr>
          <p:nvPr/>
        </p:nvSpPr>
        <p:spPr bwMode="auto">
          <a:xfrm>
            <a:off x="0" y="746944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一、圆轴</a:t>
            </a: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扭转切应力计算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4282" y="3538197"/>
            <a:ext cx="8146486" cy="2534009"/>
            <a:chOff x="214282" y="3538197"/>
            <a:chExt cx="8146486" cy="2534009"/>
          </a:xfrm>
        </p:grpSpPr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214282" y="382394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变     形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6286512" y="3823949"/>
              <a:ext cx="1571636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应力分布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3000364" y="3823949"/>
              <a:ext cx="1714512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应变分布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6500826" y="560989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公式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39" name="直接箭头连接符 38"/>
            <p:cNvCxnSpPr/>
            <p:nvPr/>
          </p:nvCxnSpPr>
          <p:spPr bwMode="auto">
            <a:xfrm>
              <a:off x="1618328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0" name="矩形 39"/>
            <p:cNvSpPr/>
            <p:nvPr/>
          </p:nvSpPr>
          <p:spPr>
            <a:xfrm>
              <a:off x="1500166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平面假定</a:t>
              </a:r>
              <a:endParaRPr kumimoji="1" lang="zh-CN" altLang="en-US" b="1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>
              <a:off x="4857752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2" name="矩形 41"/>
            <p:cNvSpPr/>
            <p:nvPr/>
          </p:nvSpPr>
          <p:spPr>
            <a:xfrm>
              <a:off x="4786314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物性关系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7143768" y="4752643"/>
              <a:ext cx="12170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静力方程</a:t>
              </a: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rot="5400000">
              <a:off x="6465107" y="4930444"/>
              <a:ext cx="1071570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6" name="矩形 45"/>
          <p:cNvSpPr/>
          <p:nvPr/>
        </p:nvSpPr>
        <p:spPr>
          <a:xfrm>
            <a:off x="714348" y="5000636"/>
            <a:ext cx="5143536" cy="656846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变形协调</a:t>
            </a:r>
            <a:r>
              <a:rPr kumimoji="1" lang="en-US" altLang="zh-CN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物性关系</a:t>
            </a:r>
            <a:r>
              <a:rPr kumimoji="1" lang="en-US" altLang="zh-CN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平衡方程</a:t>
            </a:r>
            <a:endParaRPr kumimoji="1" lang="zh-CN" altLang="en-US" sz="2800" b="1">
              <a:solidFill>
                <a:srgbClr val="008000"/>
              </a:solidFill>
              <a:latin typeface="Times New Roman" pitchFamily="18" charset="0"/>
              <a:ea typeface="黑体" pitchFamily="49" charset="-122"/>
            </a:endParaRPr>
          </a:p>
        </p:txBody>
      </p:sp>
      <p:grpSp>
        <p:nvGrpSpPr>
          <p:cNvPr id="47" name="Group 58"/>
          <p:cNvGrpSpPr>
            <a:grpSpLocks/>
          </p:cNvGrpSpPr>
          <p:nvPr/>
        </p:nvGrpSpPr>
        <p:grpSpPr bwMode="auto">
          <a:xfrm>
            <a:off x="5786446" y="1500174"/>
            <a:ext cx="2386013" cy="1616075"/>
            <a:chOff x="3202" y="2053"/>
            <a:chExt cx="1503" cy="1018"/>
          </a:xfrm>
        </p:grpSpPr>
        <p:sp>
          <p:nvSpPr>
            <p:cNvPr id="48" name="AutoShape 33"/>
            <p:cNvSpPr>
              <a:spLocks noChangeArrowheads="1"/>
            </p:cNvSpPr>
            <p:nvPr/>
          </p:nvSpPr>
          <p:spPr bwMode="auto">
            <a:xfrm rot="5409578">
              <a:off x="3312" y="2256"/>
              <a:ext cx="719" cy="912"/>
            </a:xfrm>
            <a:prstGeom prst="can">
              <a:avLst>
                <a:gd name="adj" fmla="val 52152"/>
              </a:avLst>
            </a:prstGeom>
            <a:solidFill>
              <a:srgbClr val="00CC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rc 34"/>
            <p:cNvSpPr>
              <a:spLocks/>
            </p:cNvSpPr>
            <p:nvPr/>
          </p:nvSpPr>
          <p:spPr bwMode="auto">
            <a:xfrm rot="7598924" flipV="1">
              <a:off x="3135" y="2531"/>
              <a:ext cx="467" cy="3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lg"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35"/>
            <p:cNvSpPr txBox="1">
              <a:spLocks noChangeArrowheads="1"/>
            </p:cNvSpPr>
            <p:nvPr/>
          </p:nvSpPr>
          <p:spPr bwMode="auto">
            <a:xfrm>
              <a:off x="3265" y="2053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M</a:t>
              </a:r>
              <a:r>
                <a:rPr kumimoji="1" lang="en-US" altLang="zh-CN" sz="2400" b="1" baseline="-25000">
                  <a:latin typeface="Times New Roman" pitchFamily="18" charset="0"/>
                </a:rPr>
                <a:t>e</a:t>
              </a:r>
              <a:endParaRPr kumimoji="1" lang="en-US" altLang="zh-CN" sz="2400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pSp>
          <p:nvGrpSpPr>
            <p:cNvPr id="51" name="Group 36"/>
            <p:cNvGrpSpPr>
              <a:grpSpLocks/>
            </p:cNvGrpSpPr>
            <p:nvPr/>
          </p:nvGrpSpPr>
          <p:grpSpPr bwMode="auto">
            <a:xfrm>
              <a:off x="3841" y="2448"/>
              <a:ext cx="864" cy="384"/>
              <a:chOff x="4080" y="3072"/>
              <a:chExt cx="864" cy="384"/>
            </a:xfrm>
          </p:grpSpPr>
          <p:sp>
            <p:nvSpPr>
              <p:cNvPr id="52" name="Line 37"/>
              <p:cNvSpPr>
                <a:spLocks noChangeShapeType="1"/>
              </p:cNvSpPr>
              <p:nvPr/>
            </p:nvSpPr>
            <p:spPr bwMode="auto">
              <a:xfrm>
                <a:off x="4176" y="331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Text Box 38"/>
              <p:cNvSpPr txBox="1">
                <a:spLocks noChangeArrowheads="1"/>
              </p:cNvSpPr>
              <p:nvPr/>
            </p:nvSpPr>
            <p:spPr bwMode="auto">
              <a:xfrm>
                <a:off x="4080" y="3168"/>
                <a:ext cx="1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•</a:t>
                </a:r>
                <a:endParaRPr kumimoji="1" lang="en-US" altLang="zh-CN" sz="2400" b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4" name="Text Box 39"/>
              <p:cNvSpPr txBox="1">
                <a:spLocks noChangeArrowheads="1"/>
              </p:cNvSpPr>
              <p:nvPr/>
            </p:nvSpPr>
            <p:spPr bwMode="auto">
              <a:xfrm>
                <a:off x="4656" y="3072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itchFamily="18" charset="0"/>
                  </a:rPr>
                  <a:t>x</a:t>
                </a:r>
                <a:endParaRPr kumimoji="1" lang="en-US" altLang="zh-CN" sz="2400" b="1" i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55" name="Text Box 32"/>
          <p:cNvSpPr txBox="1">
            <a:spLocks noChangeArrowheads="1"/>
          </p:cNvSpPr>
          <p:nvPr/>
        </p:nvSpPr>
        <p:spPr bwMode="auto">
          <a:xfrm>
            <a:off x="214282" y="2071678"/>
            <a:ext cx="528637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/>
              <a:t>问题性质：</a:t>
            </a:r>
            <a:r>
              <a:rPr lang="zh-CN" altLang="en-US" sz="2800" b="1" smtClean="0">
                <a:solidFill>
                  <a:srgbClr val="FF0000"/>
                </a:solidFill>
              </a:rPr>
              <a:t>超静定问题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5378450" y="4319588"/>
          <a:ext cx="3657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6" name="位图图像" r:id="rId6" imgW="6638095" imgH="2895238" progId="PBrush">
                  <p:embed/>
                </p:oleObj>
              </mc:Choice>
              <mc:Fallback>
                <p:oleObj name="位图图像" r:id="rId6" imgW="6638095" imgH="2895238" progId="PBrush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4319588"/>
                        <a:ext cx="3657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214282" y="1714488"/>
            <a:ext cx="2214546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  <a:defRPr/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(1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)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变形现象</a:t>
            </a:r>
            <a:endParaRPr kumimoji="1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428596" y="2143116"/>
            <a:ext cx="464347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20000"/>
              </a:lnSpc>
              <a:defRPr/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1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 轴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向线仍为直线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且长度不变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；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428596" y="2673352"/>
            <a:ext cx="5715040" cy="684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30000"/>
              </a:lnSpc>
              <a:defRPr/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2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 横截面仍为平面且与轴线垂直；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-32" y="857232"/>
            <a:ext cx="3214710" cy="58541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>
              <a:defRPr/>
            </a:pPr>
            <a:r>
              <a:rPr kumimoji="1" lang="en-US" altLang="zh-CN" sz="32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1.</a:t>
            </a:r>
            <a:r>
              <a:rPr kumimoji="1" lang="zh-CN" alt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变形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几何</a:t>
            </a:r>
            <a:r>
              <a:rPr kumimoji="1" lang="zh-CN" alt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关系</a:t>
            </a: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500034" y="3321055"/>
            <a:ext cx="55721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  <a:defRPr/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 径向线保持为直线</a:t>
            </a: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只是绕轴线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旋转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100015" y="4286256"/>
            <a:ext cx="4829175" cy="1434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（</a:t>
            </a: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</a:t>
            </a:r>
            <a:r>
              <a:rPr kumimoji="1" lang="zh-CN" altLang="en-US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）平面假设</a:t>
            </a:r>
            <a:endParaRPr kumimoji="1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algn="l">
              <a:lnSpc>
                <a:spcPct val="140000"/>
              </a:lnSpc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 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变形前为平面的横截面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变形后仍保持为平面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0" y="71414"/>
            <a:ext cx="2714612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" name="nz2.AVI">
            <a:hlinkClick r:id="" action="ppaction://media"/>
          </p:cNvPr>
          <p:cNvPicPr>
            <a:picLocks noRot="1" noChangeAspect="1"/>
          </p:cNvPicPr>
          <p:nvPr>
            <a:videoFile r:link="rId3"/>
          </p:nvPr>
        </p:nvPicPr>
        <p:blipFill>
          <a:blip r:embed="rId8" cstate="print"/>
          <a:stretch>
            <a:fillRect/>
          </a:stretch>
        </p:blipFill>
        <p:spPr>
          <a:xfrm>
            <a:off x="5796136" y="836712"/>
            <a:ext cx="3048000" cy="2286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Tm="2661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>
                <p:cTn id="4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16" grpId="0" autoUpdateAnimBg="0"/>
      <p:bldP spid="17" grpId="0" autoUpdateAnimBg="0"/>
      <p:bldP spid="18" grpId="0" autoUpdateAnimBg="0"/>
      <p:bldP spid="19" grpId="0"/>
      <p:bldP spid="20" grpId="0" autoUpdateAnimBg="0"/>
      <p:bldP spid="2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4" name="矩形 12"/>
          <p:cNvSpPr>
            <a:spLocks noChangeArrowheads="1"/>
          </p:cNvSpPr>
          <p:nvPr/>
        </p:nvSpPr>
        <p:spPr bwMode="auto">
          <a:xfrm>
            <a:off x="0" y="1119175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defTabSz="1069975" eaLnBrk="0" hangingPunct="0"/>
            <a:r>
              <a:rPr lang="zh-CN" altLang="en-US" sz="2800" b="1" smtClean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b="1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b="1" smtClean="0">
                <a:latin typeface="黑体" pitchFamily="49" charset="-122"/>
                <a:ea typeface="黑体" pitchFamily="49" charset="-122"/>
              </a:rPr>
              <a:t>）几何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关系</a:t>
            </a:r>
          </a:p>
        </p:txBody>
      </p:sp>
      <p:sp>
        <p:nvSpPr>
          <p:cNvPr id="53" name="AutoShape 191"/>
          <p:cNvSpPr>
            <a:spLocks noChangeArrowheads="1"/>
          </p:cNvSpPr>
          <p:nvPr/>
        </p:nvSpPr>
        <p:spPr bwMode="auto">
          <a:xfrm rot="5405145">
            <a:off x="5903909" y="892160"/>
            <a:ext cx="1444625" cy="3962400"/>
          </a:xfrm>
          <a:prstGeom prst="can">
            <a:avLst>
              <a:gd name="adj" fmla="val 74057"/>
            </a:avLst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Arc 192"/>
          <p:cNvSpPr>
            <a:spLocks/>
          </p:cNvSpPr>
          <p:nvPr/>
        </p:nvSpPr>
        <p:spPr bwMode="auto">
          <a:xfrm>
            <a:off x="5224459" y="2154222"/>
            <a:ext cx="488950" cy="1439862"/>
          </a:xfrm>
          <a:custGeom>
            <a:avLst/>
            <a:gdLst>
              <a:gd name="G0" fmla="+- 2991 0 0"/>
              <a:gd name="G1" fmla="+- 21600 0 0"/>
              <a:gd name="G2" fmla="+- 21600 0 0"/>
              <a:gd name="T0" fmla="*/ 2991 w 24591"/>
              <a:gd name="T1" fmla="*/ 0 h 43200"/>
              <a:gd name="T2" fmla="*/ 0 w 24591"/>
              <a:gd name="T3" fmla="*/ 42992 h 43200"/>
              <a:gd name="T4" fmla="*/ 2991 w 2459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591" h="43200" fill="none" extrusionOk="0">
                <a:moveTo>
                  <a:pt x="2990" y="0"/>
                </a:moveTo>
                <a:cubicBezTo>
                  <a:pt x="14920" y="0"/>
                  <a:pt x="24591" y="9670"/>
                  <a:pt x="24591" y="21600"/>
                </a:cubicBezTo>
                <a:cubicBezTo>
                  <a:pt x="24591" y="33529"/>
                  <a:pt x="14920" y="43200"/>
                  <a:pt x="2991" y="43200"/>
                </a:cubicBezTo>
                <a:cubicBezTo>
                  <a:pt x="1990" y="43200"/>
                  <a:pt x="990" y="43130"/>
                  <a:pt x="0" y="42991"/>
                </a:cubicBezTo>
              </a:path>
              <a:path w="24591" h="43200" stroke="0" extrusionOk="0">
                <a:moveTo>
                  <a:pt x="2990" y="0"/>
                </a:moveTo>
                <a:cubicBezTo>
                  <a:pt x="14920" y="0"/>
                  <a:pt x="24591" y="9670"/>
                  <a:pt x="24591" y="21600"/>
                </a:cubicBezTo>
                <a:cubicBezTo>
                  <a:pt x="24591" y="33529"/>
                  <a:pt x="14920" y="43200"/>
                  <a:pt x="2991" y="43200"/>
                </a:cubicBezTo>
                <a:cubicBezTo>
                  <a:pt x="1990" y="43200"/>
                  <a:pt x="990" y="43130"/>
                  <a:pt x="0" y="42991"/>
                </a:cubicBezTo>
                <a:lnTo>
                  <a:pt x="2991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" name="Group 193"/>
          <p:cNvGrpSpPr>
            <a:grpSpLocks/>
          </p:cNvGrpSpPr>
          <p:nvPr/>
        </p:nvGrpSpPr>
        <p:grpSpPr bwMode="auto">
          <a:xfrm>
            <a:off x="4864097" y="1766872"/>
            <a:ext cx="3600450" cy="2209800"/>
            <a:chOff x="3243" y="1380"/>
            <a:chExt cx="2268" cy="1392"/>
          </a:xfrm>
        </p:grpSpPr>
        <p:sp>
          <p:nvSpPr>
            <p:cNvPr id="62" name="Text Box 194"/>
            <p:cNvSpPr txBox="1">
              <a:spLocks noChangeArrowheads="1"/>
            </p:cNvSpPr>
            <p:nvPr/>
          </p:nvSpPr>
          <p:spPr bwMode="auto">
            <a:xfrm>
              <a:off x="3289" y="1380"/>
              <a:ext cx="34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3" name="Text Box 195"/>
            <p:cNvSpPr txBox="1">
              <a:spLocks noChangeArrowheads="1"/>
            </p:cNvSpPr>
            <p:nvPr/>
          </p:nvSpPr>
          <p:spPr bwMode="auto">
            <a:xfrm>
              <a:off x="3243" y="2439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5" name="Text Box 196"/>
            <p:cNvSpPr txBox="1">
              <a:spLocks noChangeArrowheads="1"/>
            </p:cNvSpPr>
            <p:nvPr/>
          </p:nvSpPr>
          <p:spPr bwMode="auto">
            <a:xfrm>
              <a:off x="5223" y="139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7" name="Text Box 197"/>
            <p:cNvSpPr txBox="1">
              <a:spLocks noChangeArrowheads="1"/>
            </p:cNvSpPr>
            <p:nvPr/>
          </p:nvSpPr>
          <p:spPr bwMode="auto">
            <a:xfrm>
              <a:off x="5193" y="24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69" name="Group 244"/>
          <p:cNvGrpSpPr>
            <a:grpSpLocks/>
          </p:cNvGrpSpPr>
          <p:nvPr/>
        </p:nvGrpSpPr>
        <p:grpSpPr bwMode="auto">
          <a:xfrm>
            <a:off x="5308597" y="3519472"/>
            <a:ext cx="2560637" cy="863600"/>
            <a:chOff x="3523" y="3073"/>
            <a:chExt cx="1613" cy="544"/>
          </a:xfrm>
        </p:grpSpPr>
        <p:sp>
          <p:nvSpPr>
            <p:cNvPr id="70" name="Line 199"/>
            <p:cNvSpPr>
              <a:spLocks noChangeShapeType="1"/>
            </p:cNvSpPr>
            <p:nvPr/>
          </p:nvSpPr>
          <p:spPr bwMode="auto">
            <a:xfrm>
              <a:off x="3523" y="3073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201"/>
            <p:cNvSpPr>
              <a:spLocks noChangeShapeType="1"/>
            </p:cNvSpPr>
            <p:nvPr/>
          </p:nvSpPr>
          <p:spPr bwMode="auto">
            <a:xfrm>
              <a:off x="5136" y="3127"/>
              <a:ext cx="0" cy="4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202"/>
            <p:cNvSpPr>
              <a:spLocks noChangeShapeType="1"/>
            </p:cNvSpPr>
            <p:nvPr/>
          </p:nvSpPr>
          <p:spPr bwMode="auto">
            <a:xfrm>
              <a:off x="3523" y="3508"/>
              <a:ext cx="16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Text Box 203"/>
            <p:cNvSpPr txBox="1">
              <a:spLocks noChangeArrowheads="1"/>
            </p:cNvSpPr>
            <p:nvPr/>
          </p:nvSpPr>
          <p:spPr bwMode="auto">
            <a:xfrm>
              <a:off x="4196" y="3277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d</a:t>
              </a:r>
              <a:r>
                <a:rPr kumimoji="1" lang="en-US" altLang="zh-CN" sz="2400" b="1" i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</a:p>
          </p:txBody>
        </p:sp>
      </p:grpSp>
      <p:sp>
        <p:nvSpPr>
          <p:cNvPr id="78" name="Line 211"/>
          <p:cNvSpPr>
            <a:spLocks noChangeShapeType="1"/>
          </p:cNvSpPr>
          <p:nvPr/>
        </p:nvSpPr>
        <p:spPr bwMode="auto">
          <a:xfrm>
            <a:off x="5151434" y="2870184"/>
            <a:ext cx="2738438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Text Box 223"/>
          <p:cNvSpPr txBox="1">
            <a:spLocks noChangeArrowheads="1"/>
          </p:cNvSpPr>
          <p:nvPr/>
        </p:nvSpPr>
        <p:spPr bwMode="auto">
          <a:xfrm>
            <a:off x="5224459" y="2800334"/>
            <a:ext cx="9366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kumimoji="1" lang="en-US" altLang="zh-CN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</a:t>
            </a:r>
            <a:r>
              <a:rPr kumimoji="1" lang="en-US" altLang="zh-CN" sz="2400" baseline="-25000">
                <a:latin typeface="Times New Roman" pitchFamily="18" charset="0"/>
              </a:rPr>
              <a:t>1</a:t>
            </a:r>
          </a:p>
        </p:txBody>
      </p:sp>
      <p:sp>
        <p:nvSpPr>
          <p:cNvPr id="81" name="Text Box 224"/>
          <p:cNvSpPr txBox="1">
            <a:spLocks noChangeArrowheads="1"/>
          </p:cNvSpPr>
          <p:nvPr/>
        </p:nvSpPr>
        <p:spPr bwMode="auto">
          <a:xfrm>
            <a:off x="8031159" y="2846372"/>
            <a:ext cx="9366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kumimoji="1" lang="en-US" altLang="zh-CN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</a:t>
            </a:r>
            <a:r>
              <a:rPr kumimoji="1" lang="en-US" altLang="zh-CN" sz="2400" baseline="-25000">
                <a:latin typeface="Times New Roman" pitchFamily="18" charset="0"/>
              </a:rPr>
              <a:t>2</a:t>
            </a:r>
          </a:p>
        </p:txBody>
      </p:sp>
      <p:sp>
        <p:nvSpPr>
          <p:cNvPr id="84" name="Oval 205"/>
          <p:cNvSpPr>
            <a:spLocks noChangeArrowheads="1"/>
          </p:cNvSpPr>
          <p:nvPr/>
        </p:nvSpPr>
        <p:spPr bwMode="auto">
          <a:xfrm>
            <a:off x="7959722" y="280033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Oval 217"/>
          <p:cNvSpPr>
            <a:spLocks noChangeArrowheads="1"/>
          </p:cNvSpPr>
          <p:nvPr/>
        </p:nvSpPr>
        <p:spPr bwMode="auto">
          <a:xfrm>
            <a:off x="5079997" y="280033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6" name="Group 265"/>
          <p:cNvGrpSpPr>
            <a:grpSpLocks/>
          </p:cNvGrpSpPr>
          <p:nvPr/>
        </p:nvGrpSpPr>
        <p:grpSpPr bwMode="auto">
          <a:xfrm>
            <a:off x="4071934" y="1935147"/>
            <a:ext cx="4940300" cy="1223962"/>
            <a:chOff x="2744" y="845"/>
            <a:chExt cx="3112" cy="771"/>
          </a:xfrm>
        </p:grpSpPr>
        <p:sp>
          <p:nvSpPr>
            <p:cNvPr id="87" name="Text Box 213"/>
            <p:cNvSpPr txBox="1">
              <a:spLocks noChangeArrowheads="1"/>
            </p:cNvSpPr>
            <p:nvPr/>
          </p:nvSpPr>
          <p:spPr bwMode="auto">
            <a:xfrm>
              <a:off x="2789" y="845"/>
              <a:ext cx="34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0066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88" name="Text Box 214"/>
            <p:cNvSpPr txBox="1">
              <a:spLocks noChangeArrowheads="1"/>
            </p:cNvSpPr>
            <p:nvPr/>
          </p:nvSpPr>
          <p:spPr bwMode="auto">
            <a:xfrm>
              <a:off x="5511" y="890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0066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89" name="Arc 220"/>
            <p:cNvSpPr>
              <a:spLocks/>
            </p:cNvSpPr>
            <p:nvPr/>
          </p:nvSpPr>
          <p:spPr bwMode="auto">
            <a:xfrm rot="1073497">
              <a:off x="5511" y="1162"/>
              <a:ext cx="227" cy="45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 type="triangle" w="med" len="lg"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Arc 221"/>
            <p:cNvSpPr>
              <a:spLocks/>
            </p:cNvSpPr>
            <p:nvPr/>
          </p:nvSpPr>
          <p:spPr bwMode="auto">
            <a:xfrm rot="2702948" flipH="1" flipV="1">
              <a:off x="2744" y="1207"/>
              <a:ext cx="409" cy="40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1" name="Group 252"/>
          <p:cNvGrpSpPr>
            <a:grpSpLocks/>
          </p:cNvGrpSpPr>
          <p:nvPr/>
        </p:nvGrpSpPr>
        <p:grpSpPr bwMode="auto">
          <a:xfrm>
            <a:off x="7726359" y="2395522"/>
            <a:ext cx="695325" cy="576262"/>
            <a:chOff x="4868" y="2386"/>
            <a:chExt cx="438" cy="363"/>
          </a:xfrm>
        </p:grpSpPr>
        <p:sp>
          <p:nvSpPr>
            <p:cNvPr id="92" name="Arc 208"/>
            <p:cNvSpPr>
              <a:spLocks/>
            </p:cNvSpPr>
            <p:nvPr/>
          </p:nvSpPr>
          <p:spPr bwMode="auto">
            <a:xfrm rot="-11179881">
              <a:off x="4868" y="2568"/>
              <a:ext cx="189" cy="181"/>
            </a:xfrm>
            <a:custGeom>
              <a:avLst/>
              <a:gdLst>
                <a:gd name="G0" fmla="+- 0 0 0"/>
                <a:gd name="G1" fmla="+- 8544 0 0"/>
                <a:gd name="G2" fmla="+- 21600 0 0"/>
                <a:gd name="T0" fmla="*/ 19838 w 21600"/>
                <a:gd name="T1" fmla="*/ 0 h 26832"/>
                <a:gd name="T2" fmla="*/ 11494 w 21600"/>
                <a:gd name="T3" fmla="*/ 26832 h 26832"/>
                <a:gd name="T4" fmla="*/ 0 w 21600"/>
                <a:gd name="T5" fmla="*/ 8544 h 26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6832" fill="none" extrusionOk="0">
                  <a:moveTo>
                    <a:pt x="19838" y="-1"/>
                  </a:moveTo>
                  <a:cubicBezTo>
                    <a:pt x="21000" y="2698"/>
                    <a:pt x="21600" y="5605"/>
                    <a:pt x="21600" y="8544"/>
                  </a:cubicBezTo>
                  <a:cubicBezTo>
                    <a:pt x="21600" y="15972"/>
                    <a:pt x="17783" y="22879"/>
                    <a:pt x="11493" y="26831"/>
                  </a:cubicBezTo>
                </a:path>
                <a:path w="21600" h="26832" stroke="0" extrusionOk="0">
                  <a:moveTo>
                    <a:pt x="19838" y="-1"/>
                  </a:moveTo>
                  <a:cubicBezTo>
                    <a:pt x="21000" y="2698"/>
                    <a:pt x="21600" y="5605"/>
                    <a:pt x="21600" y="8544"/>
                  </a:cubicBezTo>
                  <a:cubicBezTo>
                    <a:pt x="21600" y="15972"/>
                    <a:pt x="17783" y="22879"/>
                    <a:pt x="11493" y="26831"/>
                  </a:cubicBezTo>
                  <a:lnTo>
                    <a:pt x="0" y="8544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225"/>
            <p:cNvSpPr>
              <a:spLocks noChangeArrowheads="1"/>
            </p:cNvSpPr>
            <p:nvPr/>
          </p:nvSpPr>
          <p:spPr bwMode="auto">
            <a:xfrm>
              <a:off x="4967" y="2386"/>
              <a:ext cx="339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sym typeface="Symbol" pitchFamily="18" charset="2"/>
                </a:rPr>
                <a:t>d</a:t>
              </a:r>
              <a:r>
                <a:rPr kumimoji="1"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sym typeface="Symbol" pitchFamily="18" charset="2"/>
                </a:rPr>
                <a:t></a:t>
              </a:r>
            </a:p>
          </p:txBody>
        </p:sp>
      </p:grpSp>
      <p:grpSp>
        <p:nvGrpSpPr>
          <p:cNvPr id="94" name="Group 248"/>
          <p:cNvGrpSpPr>
            <a:grpSpLocks/>
          </p:cNvGrpSpPr>
          <p:nvPr/>
        </p:nvGrpSpPr>
        <p:grpSpPr bwMode="auto">
          <a:xfrm>
            <a:off x="4287834" y="2151047"/>
            <a:ext cx="3529013" cy="719137"/>
            <a:chOff x="2971" y="2212"/>
            <a:chExt cx="1860" cy="453"/>
          </a:xfrm>
        </p:grpSpPr>
        <p:sp>
          <p:nvSpPr>
            <p:cNvPr id="95" name="Text Box 212"/>
            <p:cNvSpPr txBox="1">
              <a:spLocks noChangeArrowheads="1"/>
            </p:cNvSpPr>
            <p:nvPr/>
          </p:nvSpPr>
          <p:spPr bwMode="auto">
            <a:xfrm>
              <a:off x="2971" y="2257"/>
              <a:ext cx="34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96" name="Line 215"/>
            <p:cNvSpPr>
              <a:spLocks noChangeShapeType="1"/>
            </p:cNvSpPr>
            <p:nvPr/>
          </p:nvSpPr>
          <p:spPr bwMode="auto">
            <a:xfrm>
              <a:off x="3153" y="2438"/>
              <a:ext cx="155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Text Box 216"/>
            <p:cNvSpPr txBox="1">
              <a:spLocks noChangeArrowheads="1"/>
            </p:cNvSpPr>
            <p:nvPr/>
          </p:nvSpPr>
          <p:spPr bwMode="auto">
            <a:xfrm>
              <a:off x="4543" y="221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98" name="Line 226"/>
            <p:cNvSpPr>
              <a:spLocks noChangeShapeType="1"/>
            </p:cNvSpPr>
            <p:nvPr/>
          </p:nvSpPr>
          <p:spPr bwMode="auto">
            <a:xfrm flipH="1" flipV="1">
              <a:off x="3153" y="2438"/>
              <a:ext cx="31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" name="Group 227"/>
          <p:cNvGrpSpPr>
            <a:grpSpLocks/>
          </p:cNvGrpSpPr>
          <p:nvPr/>
        </p:nvGrpSpPr>
        <p:grpSpPr bwMode="auto">
          <a:xfrm>
            <a:off x="5008559" y="2654284"/>
            <a:ext cx="3205163" cy="792163"/>
            <a:chOff x="3289" y="1951"/>
            <a:chExt cx="1814" cy="499"/>
          </a:xfrm>
        </p:grpSpPr>
        <p:sp>
          <p:nvSpPr>
            <p:cNvPr id="100" name="Line 228"/>
            <p:cNvSpPr>
              <a:spLocks noChangeShapeType="1"/>
            </p:cNvSpPr>
            <p:nvPr/>
          </p:nvSpPr>
          <p:spPr bwMode="auto">
            <a:xfrm>
              <a:off x="3289" y="1951"/>
              <a:ext cx="1543" cy="227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229"/>
            <p:cNvSpPr txBox="1">
              <a:spLocks noChangeArrowheads="1"/>
            </p:cNvSpPr>
            <p:nvPr/>
          </p:nvSpPr>
          <p:spPr bwMode="auto">
            <a:xfrm>
              <a:off x="4740" y="216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 </a:t>
              </a:r>
              <a:r>
                <a:rPr kumimoji="1" lang="en-US" altLang="zh-CN" sz="2400" b="1" i="1">
                  <a:solidFill>
                    <a:srgbClr val="FF9900"/>
                  </a:solidFill>
                  <a:latin typeface="Times New Roman" pitchFamily="18" charset="0"/>
                </a:rPr>
                <a:t>G</a:t>
              </a:r>
              <a:r>
                <a:rPr kumimoji="1" lang="en-US" altLang="zh-CN" sz="2400" b="1" i="1">
                  <a:solidFill>
                    <a:srgbClr val="FF99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</a:p>
          </p:txBody>
        </p:sp>
      </p:grpSp>
      <p:grpSp>
        <p:nvGrpSpPr>
          <p:cNvPr id="102" name="Group 247"/>
          <p:cNvGrpSpPr>
            <a:grpSpLocks/>
          </p:cNvGrpSpPr>
          <p:nvPr/>
        </p:nvGrpSpPr>
        <p:grpSpPr bwMode="auto">
          <a:xfrm>
            <a:off x="6442072" y="1214422"/>
            <a:ext cx="1014412" cy="1681162"/>
            <a:chOff x="4237" y="1661"/>
            <a:chExt cx="639" cy="1059"/>
          </a:xfrm>
        </p:grpSpPr>
        <p:sp>
          <p:nvSpPr>
            <p:cNvPr id="103" name="Arc 236"/>
            <p:cNvSpPr>
              <a:spLocks/>
            </p:cNvSpPr>
            <p:nvPr/>
          </p:nvSpPr>
          <p:spPr bwMode="auto">
            <a:xfrm rot="1772841">
              <a:off x="4237" y="2523"/>
              <a:ext cx="113" cy="197"/>
            </a:xfrm>
            <a:custGeom>
              <a:avLst/>
              <a:gdLst>
                <a:gd name="G0" fmla="+- 0 0 0"/>
                <a:gd name="G1" fmla="+- 20273 0 0"/>
                <a:gd name="G2" fmla="+- 21600 0 0"/>
                <a:gd name="T0" fmla="*/ 7455 w 21248"/>
                <a:gd name="T1" fmla="*/ 0 h 20273"/>
                <a:gd name="T2" fmla="*/ 21248 w 21248"/>
                <a:gd name="T3" fmla="*/ 16391 h 20273"/>
                <a:gd name="T4" fmla="*/ 0 w 21248"/>
                <a:gd name="T5" fmla="*/ 20273 h 20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48" h="20273" fill="none" extrusionOk="0">
                  <a:moveTo>
                    <a:pt x="7454" y="0"/>
                  </a:moveTo>
                  <a:cubicBezTo>
                    <a:pt x="14628" y="2638"/>
                    <a:pt x="19874" y="8871"/>
                    <a:pt x="21248" y="16390"/>
                  </a:cubicBezTo>
                </a:path>
                <a:path w="21248" h="20273" stroke="0" extrusionOk="0">
                  <a:moveTo>
                    <a:pt x="7454" y="0"/>
                  </a:moveTo>
                  <a:cubicBezTo>
                    <a:pt x="14628" y="2638"/>
                    <a:pt x="19874" y="8871"/>
                    <a:pt x="21248" y="16390"/>
                  </a:cubicBezTo>
                  <a:lnTo>
                    <a:pt x="0" y="20273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237"/>
            <p:cNvSpPr>
              <a:spLocks noChangeShapeType="1"/>
            </p:cNvSpPr>
            <p:nvPr/>
          </p:nvSpPr>
          <p:spPr bwMode="auto">
            <a:xfrm flipV="1">
              <a:off x="4350" y="1933"/>
              <a:ext cx="118" cy="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Text Box 238"/>
            <p:cNvSpPr txBox="1">
              <a:spLocks noChangeArrowheads="1"/>
            </p:cNvSpPr>
            <p:nvPr/>
          </p:nvSpPr>
          <p:spPr bwMode="auto">
            <a:xfrm>
              <a:off x="4331" y="1661"/>
              <a:ext cx="545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</a:pPr>
              <a:r>
                <a:rPr kumimoji="1"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sym typeface="Symbol" pitchFamily="18" charset="2"/>
                </a:rPr>
                <a:t></a:t>
              </a:r>
              <a:r>
                <a:rPr kumimoji="1" lang="el-GR" altLang="zh-CN" sz="24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ρ</a:t>
              </a:r>
            </a:p>
          </p:txBody>
        </p:sp>
      </p:grpSp>
      <p:grpSp>
        <p:nvGrpSpPr>
          <p:cNvPr id="106" name="Group 239"/>
          <p:cNvGrpSpPr>
            <a:grpSpLocks/>
          </p:cNvGrpSpPr>
          <p:nvPr/>
        </p:nvGrpSpPr>
        <p:grpSpPr bwMode="auto">
          <a:xfrm>
            <a:off x="4200522" y="2625709"/>
            <a:ext cx="1008062" cy="1081088"/>
            <a:chOff x="2953" y="1942"/>
            <a:chExt cx="617" cy="726"/>
          </a:xfrm>
        </p:grpSpPr>
        <p:sp>
          <p:nvSpPr>
            <p:cNvPr id="107" name="Line 240"/>
            <p:cNvSpPr>
              <a:spLocks noChangeShapeType="1"/>
            </p:cNvSpPr>
            <p:nvPr/>
          </p:nvSpPr>
          <p:spPr bwMode="auto">
            <a:xfrm flipH="1">
              <a:off x="2953" y="1942"/>
              <a:ext cx="363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41"/>
            <p:cNvSpPr>
              <a:spLocks noChangeShapeType="1"/>
            </p:cNvSpPr>
            <p:nvPr/>
          </p:nvSpPr>
          <p:spPr bwMode="auto">
            <a:xfrm flipH="1">
              <a:off x="3134" y="2123"/>
              <a:ext cx="363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42"/>
            <p:cNvSpPr>
              <a:spLocks noChangeShapeType="1"/>
            </p:cNvSpPr>
            <p:nvPr/>
          </p:nvSpPr>
          <p:spPr bwMode="auto">
            <a:xfrm>
              <a:off x="2998" y="2441"/>
              <a:ext cx="182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43"/>
            <p:cNvSpPr txBox="1">
              <a:spLocks noChangeArrowheads="1"/>
            </p:cNvSpPr>
            <p:nvPr/>
          </p:nvSpPr>
          <p:spPr bwMode="auto">
            <a:xfrm>
              <a:off x="2980" y="2244"/>
              <a:ext cx="590" cy="3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</a:pPr>
              <a:r>
                <a:rPr kumimoji="1" lang="el-GR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ρ</a:t>
              </a:r>
            </a:p>
          </p:txBody>
        </p:sp>
      </p:grpSp>
      <p:grpSp>
        <p:nvGrpSpPr>
          <p:cNvPr id="111" name="Group 258"/>
          <p:cNvGrpSpPr>
            <a:grpSpLocks/>
          </p:cNvGrpSpPr>
          <p:nvPr/>
        </p:nvGrpSpPr>
        <p:grpSpPr bwMode="auto">
          <a:xfrm>
            <a:off x="5656259" y="2343134"/>
            <a:ext cx="792163" cy="517525"/>
            <a:chOff x="3742" y="1102"/>
            <a:chExt cx="499" cy="326"/>
          </a:xfrm>
        </p:grpSpPr>
        <p:sp>
          <p:nvSpPr>
            <p:cNvPr id="112" name="Text Box 209"/>
            <p:cNvSpPr txBox="1">
              <a:spLocks noChangeArrowheads="1"/>
            </p:cNvSpPr>
            <p:nvPr/>
          </p:nvSpPr>
          <p:spPr bwMode="auto">
            <a:xfrm>
              <a:off x="3923" y="1102"/>
              <a:ext cx="318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</a:pPr>
              <a:r>
                <a:rPr kumimoji="1"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sym typeface="Symbol" pitchFamily="18" charset="2"/>
                </a:rPr>
                <a:t></a:t>
              </a:r>
            </a:p>
          </p:txBody>
        </p:sp>
        <p:sp>
          <p:nvSpPr>
            <p:cNvPr id="113" name="Arc 207"/>
            <p:cNvSpPr>
              <a:spLocks/>
            </p:cNvSpPr>
            <p:nvPr/>
          </p:nvSpPr>
          <p:spPr bwMode="auto">
            <a:xfrm rot="2421661">
              <a:off x="3742" y="1158"/>
              <a:ext cx="180" cy="270"/>
            </a:xfrm>
            <a:custGeom>
              <a:avLst/>
              <a:gdLst>
                <a:gd name="G0" fmla="+- 0 0 0"/>
                <a:gd name="G1" fmla="+- 18282 0 0"/>
                <a:gd name="G2" fmla="+- 21600 0 0"/>
                <a:gd name="T0" fmla="*/ 11503 w 20754"/>
                <a:gd name="T1" fmla="*/ 0 h 18282"/>
                <a:gd name="T2" fmla="*/ 20754 w 20754"/>
                <a:gd name="T3" fmla="*/ 12297 h 18282"/>
                <a:gd name="T4" fmla="*/ 0 w 20754"/>
                <a:gd name="T5" fmla="*/ 18282 h 18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4" h="18282" fill="none" extrusionOk="0">
                  <a:moveTo>
                    <a:pt x="11503" y="-1"/>
                  </a:moveTo>
                  <a:cubicBezTo>
                    <a:pt x="15991" y="2824"/>
                    <a:pt x="19284" y="7201"/>
                    <a:pt x="20754" y="12296"/>
                  </a:cubicBezTo>
                </a:path>
                <a:path w="20754" h="18282" stroke="0" extrusionOk="0">
                  <a:moveTo>
                    <a:pt x="11503" y="-1"/>
                  </a:moveTo>
                  <a:cubicBezTo>
                    <a:pt x="15991" y="2824"/>
                    <a:pt x="19284" y="7201"/>
                    <a:pt x="20754" y="12296"/>
                  </a:cubicBezTo>
                  <a:lnTo>
                    <a:pt x="0" y="1828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4" name="Group 250"/>
          <p:cNvGrpSpPr>
            <a:grpSpLocks/>
          </p:cNvGrpSpPr>
          <p:nvPr/>
        </p:nvGrpSpPr>
        <p:grpSpPr bwMode="auto">
          <a:xfrm>
            <a:off x="4721222" y="2511409"/>
            <a:ext cx="2879725" cy="1044575"/>
            <a:chOff x="3153" y="2438"/>
            <a:chExt cx="1542" cy="658"/>
          </a:xfrm>
        </p:grpSpPr>
        <p:sp>
          <p:nvSpPr>
            <p:cNvPr id="115" name="Rectangle 249"/>
            <p:cNvSpPr>
              <a:spLocks noChangeArrowheads="1"/>
            </p:cNvSpPr>
            <p:nvPr/>
          </p:nvSpPr>
          <p:spPr bwMode="auto">
            <a:xfrm>
              <a:off x="4422" y="2808"/>
              <a:ext cx="262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D'</a:t>
              </a:r>
            </a:p>
          </p:txBody>
        </p:sp>
        <p:sp>
          <p:nvSpPr>
            <p:cNvPr id="116" name="Line 219"/>
            <p:cNvSpPr>
              <a:spLocks noChangeShapeType="1"/>
            </p:cNvSpPr>
            <p:nvPr/>
          </p:nvSpPr>
          <p:spPr bwMode="auto">
            <a:xfrm>
              <a:off x="3153" y="2438"/>
              <a:ext cx="1542" cy="3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7" name="Group 262"/>
          <p:cNvGrpSpPr>
            <a:grpSpLocks/>
          </p:cNvGrpSpPr>
          <p:nvPr/>
        </p:nvGrpSpPr>
        <p:grpSpPr bwMode="auto">
          <a:xfrm>
            <a:off x="7600947" y="2484422"/>
            <a:ext cx="431800" cy="665162"/>
            <a:chOff x="4694" y="1202"/>
            <a:chExt cx="408" cy="419"/>
          </a:xfrm>
        </p:grpSpPr>
        <p:sp>
          <p:nvSpPr>
            <p:cNvPr id="118" name="Line 218"/>
            <p:cNvSpPr>
              <a:spLocks noChangeShapeType="1"/>
            </p:cNvSpPr>
            <p:nvPr/>
          </p:nvSpPr>
          <p:spPr bwMode="auto">
            <a:xfrm>
              <a:off x="4694" y="1202"/>
              <a:ext cx="363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53"/>
            <p:cNvSpPr>
              <a:spLocks noChangeShapeType="1"/>
            </p:cNvSpPr>
            <p:nvPr/>
          </p:nvSpPr>
          <p:spPr bwMode="auto">
            <a:xfrm flipV="1">
              <a:off x="4694" y="1433"/>
              <a:ext cx="408" cy="1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Group 264"/>
          <p:cNvGrpSpPr>
            <a:grpSpLocks/>
          </p:cNvGrpSpPr>
          <p:nvPr/>
        </p:nvGrpSpPr>
        <p:grpSpPr bwMode="auto">
          <a:xfrm>
            <a:off x="4787897" y="2222484"/>
            <a:ext cx="3392487" cy="765175"/>
            <a:chOff x="3198" y="1071"/>
            <a:chExt cx="1859" cy="472"/>
          </a:xfrm>
        </p:grpSpPr>
        <p:sp>
          <p:nvSpPr>
            <p:cNvPr id="121" name="Line 255"/>
            <p:cNvSpPr>
              <a:spLocks noChangeShapeType="1"/>
            </p:cNvSpPr>
            <p:nvPr/>
          </p:nvSpPr>
          <p:spPr bwMode="auto">
            <a:xfrm>
              <a:off x="3288" y="1314"/>
              <a:ext cx="1542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2" name="Group 263"/>
            <p:cNvGrpSpPr>
              <a:grpSpLocks/>
            </p:cNvGrpSpPr>
            <p:nvPr/>
          </p:nvGrpSpPr>
          <p:grpSpPr bwMode="auto">
            <a:xfrm>
              <a:off x="3198" y="1071"/>
              <a:ext cx="1859" cy="472"/>
              <a:chOff x="3198" y="1071"/>
              <a:chExt cx="1859" cy="472"/>
            </a:xfrm>
          </p:grpSpPr>
          <p:sp>
            <p:nvSpPr>
              <p:cNvPr id="123" name="Text Box 256"/>
              <p:cNvSpPr txBox="1">
                <a:spLocks noChangeArrowheads="1"/>
              </p:cNvSpPr>
              <p:nvPr/>
            </p:nvSpPr>
            <p:spPr bwMode="auto">
              <a:xfrm>
                <a:off x="4769" y="1071"/>
                <a:ext cx="288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itchFamily="18" charset="0"/>
                  </a:rPr>
                  <a:t> </a:t>
                </a:r>
                <a:r>
                  <a:rPr kumimoji="1" lang="en-US" altLang="zh-CN" sz="2400" b="1" i="1">
                    <a:solidFill>
                      <a:srgbClr val="FF9900"/>
                    </a:solidFill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124" name="Text Box 259"/>
              <p:cNvSpPr txBox="1">
                <a:spLocks noChangeArrowheads="1"/>
              </p:cNvSpPr>
              <p:nvPr/>
            </p:nvSpPr>
            <p:spPr bwMode="auto">
              <a:xfrm>
                <a:off x="3198" y="1298"/>
                <a:ext cx="499" cy="24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0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</p:grpSp>
      </p:grpSp>
      <p:graphicFrame>
        <p:nvGraphicFramePr>
          <p:cNvPr id="125" name="Object 93"/>
          <p:cNvGraphicFramePr>
            <a:graphicFrameLocks noChangeAspect="1"/>
          </p:cNvGraphicFramePr>
          <p:nvPr/>
        </p:nvGraphicFramePr>
        <p:xfrm>
          <a:off x="1000100" y="2928934"/>
          <a:ext cx="18573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3" name="Equation" r:id="rId4" imgW="16144765" imgH="9439200" progId="">
                  <p:embed/>
                </p:oleObj>
              </mc:Choice>
              <mc:Fallback>
                <p:oleObj name="Equation" r:id="rId4" imgW="16144765" imgH="9439200" progId="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2928934"/>
                        <a:ext cx="1857375" cy="9112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组合 75"/>
          <p:cNvGrpSpPr/>
          <p:nvPr/>
        </p:nvGrpSpPr>
        <p:grpSpPr>
          <a:xfrm>
            <a:off x="428596" y="4487338"/>
            <a:ext cx="4286280" cy="1370554"/>
            <a:chOff x="428596" y="4487338"/>
            <a:chExt cx="4286280" cy="1370554"/>
          </a:xfrm>
        </p:grpSpPr>
        <p:sp>
          <p:nvSpPr>
            <p:cNvPr id="127" name="Rectangle 106"/>
            <p:cNvSpPr>
              <a:spLocks noChangeArrowheads="1"/>
            </p:cNvSpPr>
            <p:nvPr/>
          </p:nvSpPr>
          <p:spPr bwMode="auto">
            <a:xfrm>
              <a:off x="1071538" y="5119228"/>
              <a:ext cx="2000264" cy="738664"/>
            </a:xfrm>
            <a:prstGeom prst="rect">
              <a:avLst/>
            </a:prstGeom>
            <a:noFill/>
            <a:ln w="19050">
              <a:noFill/>
              <a:miter lim="800000"/>
              <a:headEnd type="none" w="med" len="lg"/>
              <a:tailEnd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800" b="1" smtClean="0"/>
                <a:t>是</a:t>
              </a:r>
              <a:r>
                <a:rPr lang="zh-CN" altLang="en-US" sz="2800" b="1" smtClean="0">
                  <a:sym typeface="Symbol" pitchFamily="18" charset="2"/>
                </a:rPr>
                <a:t>常数</a:t>
              </a:r>
              <a:r>
                <a:rPr lang="zh-CN" altLang="en-US" sz="2800" b="1">
                  <a:sym typeface="Symbol" pitchFamily="18" charset="2"/>
                </a:rPr>
                <a:t>。</a:t>
              </a:r>
              <a:r>
                <a:rPr lang="zh-CN" altLang="en-US" sz="2800" b="1" i="1"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130" name="Object 6"/>
            <p:cNvGraphicFramePr>
              <a:graphicFrameLocks noChangeAspect="1"/>
            </p:cNvGraphicFramePr>
            <p:nvPr/>
          </p:nvGraphicFramePr>
          <p:xfrm>
            <a:off x="428596" y="4530258"/>
            <a:ext cx="428628" cy="849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54" name="Equation" r:id="rId6" imgW="228600" imgH="368300" progId="">
                    <p:embed/>
                  </p:oleObj>
                </mc:Choice>
                <mc:Fallback>
                  <p:oleObj name="Equation" r:id="rId6" imgW="228600" imgH="368300" progId="">
                    <p:embed/>
                    <p:pic>
                      <p:nvPicPr>
                        <p:cNvPr id="0" name="Picture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596" y="4530258"/>
                          <a:ext cx="428628" cy="849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1" name="Rectangle 105"/>
            <p:cNvSpPr>
              <a:spLocks noChangeArrowheads="1"/>
            </p:cNvSpPr>
            <p:nvPr/>
          </p:nvSpPr>
          <p:spPr bwMode="auto">
            <a:xfrm>
              <a:off x="1071537" y="4487338"/>
              <a:ext cx="3643339" cy="523220"/>
            </a:xfrm>
            <a:prstGeom prst="rect">
              <a:avLst/>
            </a:prstGeom>
            <a:noFill/>
            <a:ln w="19050">
              <a:noFill/>
              <a:miter lim="800000"/>
              <a:headEnd type="none" w="med" len="lg"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800" b="1" smtClean="0">
                  <a:sym typeface="Symbol" pitchFamily="18" charset="2"/>
                </a:rPr>
                <a:t>称为</a:t>
              </a:r>
              <a:r>
                <a:rPr lang="zh-CN" altLang="en-US" sz="2800" b="1">
                  <a:solidFill>
                    <a:srgbClr val="FF0000"/>
                  </a:solidFill>
                  <a:sym typeface="Symbol" pitchFamily="18" charset="2"/>
                </a:rPr>
                <a:t>单位长度扭转角</a:t>
              </a:r>
              <a:r>
                <a:rPr lang="zh-CN" altLang="en-US" sz="2800" b="1" i="1">
                  <a:solidFill>
                    <a:srgbClr val="FF0000"/>
                  </a:solidFill>
                  <a:sym typeface="Symbol" pitchFamily="18" charset="2"/>
                </a:rPr>
                <a:t> </a:t>
              </a:r>
            </a:p>
          </p:txBody>
        </p:sp>
      </p:grpSp>
      <p:sp>
        <p:nvSpPr>
          <p:cNvPr id="75" name="Text Box 30"/>
          <p:cNvSpPr txBox="1">
            <a:spLocks noChangeArrowheads="1"/>
          </p:cNvSpPr>
          <p:nvPr/>
        </p:nvSpPr>
        <p:spPr bwMode="auto">
          <a:xfrm>
            <a:off x="0" y="-28991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4" name="Object 92"/>
          <p:cNvGraphicFramePr>
            <a:graphicFrameLocks noChangeAspect="1"/>
          </p:cNvGraphicFramePr>
          <p:nvPr/>
        </p:nvGraphicFramePr>
        <p:xfrm>
          <a:off x="1071538" y="1928802"/>
          <a:ext cx="1439862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" name="Equation" r:id="rId8" imgW="14620945" imgH="9439200" progId="">
                  <p:embed/>
                </p:oleObj>
              </mc:Choice>
              <mc:Fallback>
                <p:oleObj name="Equation" r:id="rId8" imgW="14620945" imgH="9439200" progId="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1928802"/>
                        <a:ext cx="1439862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2"/>
          <p:cNvGrpSpPr/>
          <p:nvPr/>
        </p:nvGrpSpPr>
        <p:grpSpPr>
          <a:xfrm>
            <a:off x="285720" y="2786058"/>
            <a:ext cx="8146486" cy="2534009"/>
            <a:chOff x="214282" y="3538197"/>
            <a:chExt cx="8146486" cy="2534009"/>
          </a:xfrm>
        </p:grpSpPr>
        <p:sp>
          <p:nvSpPr>
            <p:cNvPr id="2" name="Rectangle 20"/>
            <p:cNvSpPr>
              <a:spLocks noChangeArrowheads="1"/>
            </p:cNvSpPr>
            <p:nvPr/>
          </p:nvSpPr>
          <p:spPr bwMode="auto">
            <a:xfrm>
              <a:off x="214282" y="382394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变     形</a:t>
              </a:r>
              <a:endPara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3" name="Rectangle 20"/>
            <p:cNvSpPr>
              <a:spLocks noChangeArrowheads="1"/>
            </p:cNvSpPr>
            <p:nvPr/>
          </p:nvSpPr>
          <p:spPr bwMode="auto">
            <a:xfrm>
              <a:off x="6286512" y="3823949"/>
              <a:ext cx="1571636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应力分布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4" name="Rectangle 20"/>
            <p:cNvSpPr>
              <a:spLocks noChangeArrowheads="1"/>
            </p:cNvSpPr>
            <p:nvPr/>
          </p:nvSpPr>
          <p:spPr bwMode="auto">
            <a:xfrm>
              <a:off x="3000364" y="3823949"/>
              <a:ext cx="1714512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应变分布</a:t>
              </a:r>
              <a:endPara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5" name="Rectangle 20"/>
            <p:cNvSpPr>
              <a:spLocks noChangeArrowheads="1"/>
            </p:cNvSpPr>
            <p:nvPr/>
          </p:nvSpPr>
          <p:spPr bwMode="auto">
            <a:xfrm>
              <a:off x="6500826" y="560989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公式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 bwMode="auto">
            <a:xfrm>
              <a:off x="1618328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" name="矩形 6"/>
            <p:cNvSpPr/>
            <p:nvPr/>
          </p:nvSpPr>
          <p:spPr>
            <a:xfrm>
              <a:off x="1500166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平面假定</a:t>
              </a:r>
              <a:endParaRPr kumimoji="1" lang="zh-CN" altLang="en-US" b="1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 bwMode="auto">
            <a:xfrm>
              <a:off x="4857752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" name="矩形 8"/>
            <p:cNvSpPr/>
            <p:nvPr/>
          </p:nvSpPr>
          <p:spPr>
            <a:xfrm>
              <a:off x="4786314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物性关系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143768" y="4752643"/>
              <a:ext cx="12170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静力方程</a:t>
              </a:r>
            </a:p>
          </p:txBody>
        </p:sp>
        <p:cxnSp>
          <p:nvCxnSpPr>
            <p:cNvPr id="11" name="直接箭头连接符 10"/>
            <p:cNvCxnSpPr/>
            <p:nvPr/>
          </p:nvCxnSpPr>
          <p:spPr bwMode="auto">
            <a:xfrm rot="5400000">
              <a:off x="6465107" y="4930444"/>
              <a:ext cx="1071570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5" name="矩形 14"/>
          <p:cNvSpPr/>
          <p:nvPr/>
        </p:nvSpPr>
        <p:spPr>
          <a:xfrm>
            <a:off x="785786" y="4714884"/>
            <a:ext cx="5143536" cy="656846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变形协调</a:t>
            </a:r>
            <a:r>
              <a:rPr kumimoji="1" lang="en-US" altLang="zh-CN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物性关系</a:t>
            </a:r>
            <a:r>
              <a:rPr kumimoji="1" lang="en-US" altLang="zh-CN" sz="2800" b="1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平衡方程</a:t>
            </a:r>
            <a:endParaRPr kumimoji="1" lang="zh-CN" altLang="en-US" sz="2800" b="1">
              <a:solidFill>
                <a:schemeClr val="bg2"/>
              </a:solidFill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13" name="Object 93"/>
          <p:cNvGraphicFramePr>
            <a:graphicFrameLocks noChangeAspect="1"/>
          </p:cNvGraphicFramePr>
          <p:nvPr/>
        </p:nvGraphicFramePr>
        <p:xfrm>
          <a:off x="3214678" y="2214554"/>
          <a:ext cx="1500198" cy="735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55" name="Equation" r:id="rId3" imgW="666688" imgH="380970" progId="">
                  <p:embed/>
                </p:oleObj>
              </mc:Choice>
              <mc:Fallback>
                <p:oleObj name="Equation" r:id="rId3" imgW="666688" imgH="38097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2214554"/>
                        <a:ext cx="1500198" cy="73599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120"/>
          <p:cNvGrpSpPr/>
          <p:nvPr/>
        </p:nvGrpSpPr>
        <p:grpSpPr>
          <a:xfrm>
            <a:off x="5931069" y="3214686"/>
            <a:ext cx="2160000" cy="2160000"/>
            <a:chOff x="144591" y="3214686"/>
            <a:chExt cx="2160000" cy="2160000"/>
          </a:xfrm>
        </p:grpSpPr>
        <p:sp>
          <p:nvSpPr>
            <p:cNvPr id="11" name="椭圆 10"/>
            <p:cNvSpPr/>
            <p:nvPr/>
          </p:nvSpPr>
          <p:spPr bwMode="auto">
            <a:xfrm>
              <a:off x="144591" y="3214686"/>
              <a:ext cx="2160000" cy="2160000"/>
            </a:xfrm>
            <a:prstGeom prst="ellipse">
              <a:avLst/>
            </a:prstGeom>
            <a:solidFill>
              <a:srgbClr val="FFFF00"/>
            </a:solidFill>
            <a:ln w="285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graphicFrame>
          <p:nvGraphicFramePr>
            <p:cNvPr id="3085" name="Object 13"/>
            <p:cNvGraphicFramePr>
              <a:graphicFrameLocks noChangeAspect="1"/>
            </p:cNvGraphicFramePr>
            <p:nvPr/>
          </p:nvGraphicFramePr>
          <p:xfrm>
            <a:off x="928662" y="4357694"/>
            <a:ext cx="301625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公式" r:id="rId6" imgW="126835" imgH="139518" progId="">
                    <p:embed/>
                  </p:oleObj>
                </mc:Choice>
                <mc:Fallback>
                  <p:oleObj name="公式" r:id="rId6" imgW="126835" imgH="139518" progId="">
                    <p:embed/>
                    <p:pic>
                      <p:nvPicPr>
                        <p:cNvPr id="0" name="Picture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4357694"/>
                          <a:ext cx="301625" cy="331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14282" y="1500174"/>
            <a:ext cx="8286744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01638" indent="-401638" algn="l" defTabSz="1069975" eaLnBrk="0" hangingPunct="0">
              <a:lnSpc>
                <a:spcPct val="130000"/>
              </a:lnSpc>
              <a:buClr>
                <a:srgbClr val="0000FF"/>
              </a:buClr>
              <a:buFont typeface="Symbol" pitchFamily="18" charset="2"/>
              <a:buNone/>
            </a:pPr>
            <a:r>
              <a:rPr lang="zh-CN" altLang="en-US" sz="2400" b="1"/>
              <a:t>根据剪切胡克定律</a:t>
            </a:r>
            <a:r>
              <a:rPr lang="en-US" altLang="zh-CN" sz="2400" b="1"/>
              <a:t>, </a:t>
            </a:r>
            <a:r>
              <a:rPr lang="zh-CN" altLang="en-US" sz="2400" b="1"/>
              <a:t>当切应力</a:t>
            </a:r>
            <a:r>
              <a:rPr lang="zh-CN" altLang="en-US" sz="2400" b="1">
                <a:solidFill>
                  <a:srgbClr val="FF0000"/>
                </a:solidFill>
              </a:rPr>
              <a:t>不超过</a:t>
            </a:r>
            <a:r>
              <a:rPr lang="zh-CN" altLang="en-US" sz="2400" b="1"/>
              <a:t>材料的剪切比例极限时</a:t>
            </a: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574970" y="2576523"/>
          <a:ext cx="15525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公式" r:id="rId8" imgW="596900" imgH="241300" progId="">
                  <p:embed/>
                </p:oleObj>
              </mc:Choice>
              <mc:Fallback>
                <p:oleObj name="公式" r:id="rId8" imgW="596900" imgH="241300" progId="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70" y="2576523"/>
                        <a:ext cx="1552575" cy="62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2262476" y="2378075"/>
          <a:ext cx="145226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公式" r:id="rId10" imgW="596900" imgH="431800" progId="">
                  <p:embed/>
                </p:oleObj>
              </mc:Choice>
              <mc:Fallback>
                <p:oleObj name="公式" r:id="rId10" imgW="596900" imgH="431800" progId="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476" y="2378075"/>
                        <a:ext cx="1452268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矩形 12"/>
          <p:cNvSpPr>
            <a:spLocks noChangeArrowheads="1"/>
          </p:cNvSpPr>
          <p:nvPr/>
        </p:nvSpPr>
        <p:spPr bwMode="auto">
          <a:xfrm>
            <a:off x="0" y="785794"/>
            <a:ext cx="32861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defTabSz="1069975" eaLnBrk="0" hangingPunct="0"/>
            <a:r>
              <a:rPr lang="en-US" altLang="zh-CN" sz="3200" b="1" smtClean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3200" b="1" smtClean="0">
                <a:latin typeface="黑体" pitchFamily="49" charset="-122"/>
                <a:ea typeface="黑体" pitchFamily="49" charset="-122"/>
              </a:rPr>
              <a:t>物理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关系</a:t>
            </a:r>
          </a:p>
        </p:txBody>
      </p:sp>
      <p:pic>
        <p:nvPicPr>
          <p:cNvPr id="58" name="Picture 7" descr="严圣平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5338" y="3592239"/>
            <a:ext cx="563562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5" name="组合 44"/>
          <p:cNvGrpSpPr/>
          <p:nvPr/>
        </p:nvGrpSpPr>
        <p:grpSpPr>
          <a:xfrm>
            <a:off x="7011069" y="3701774"/>
            <a:ext cx="1080000" cy="594500"/>
            <a:chOff x="2520000" y="3367088"/>
            <a:chExt cx="1080000" cy="594500"/>
          </a:xfrm>
        </p:grpSpPr>
        <p:cxnSp>
          <p:nvCxnSpPr>
            <p:cNvPr id="16" name="直接连接符 15"/>
            <p:cNvCxnSpPr/>
            <p:nvPr/>
          </p:nvCxnSpPr>
          <p:spPr bwMode="auto">
            <a:xfrm>
              <a:off x="2520000" y="3960000"/>
              <a:ext cx="1080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/>
          </p:nvCxnSpPr>
          <p:spPr bwMode="auto">
            <a:xfrm rot="5400000">
              <a:off x="3293118" y="3663294"/>
              <a:ext cx="594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26" name="直接连接符 25"/>
            <p:cNvCxnSpPr/>
            <p:nvPr/>
          </p:nvCxnSpPr>
          <p:spPr bwMode="auto">
            <a:xfrm rot="5400000">
              <a:off x="3155812" y="3717012"/>
              <a:ext cx="468562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 bwMode="auto">
            <a:xfrm rot="5400000">
              <a:off x="2818167" y="3841379"/>
              <a:ext cx="2088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 rot="5400000">
              <a:off x="2997853" y="3780761"/>
              <a:ext cx="325686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 flipV="1">
              <a:off x="2528074" y="3385346"/>
              <a:ext cx="1071570" cy="571504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6" name="组合 45"/>
          <p:cNvGrpSpPr/>
          <p:nvPr/>
        </p:nvGrpSpPr>
        <p:grpSpPr>
          <a:xfrm rot="16200000">
            <a:off x="6186639" y="3469369"/>
            <a:ext cx="1080000" cy="594500"/>
            <a:chOff x="2520000" y="3367088"/>
            <a:chExt cx="1080000" cy="594500"/>
          </a:xfrm>
        </p:grpSpPr>
        <p:cxnSp>
          <p:nvCxnSpPr>
            <p:cNvPr id="47" name="直接连接符 46"/>
            <p:cNvCxnSpPr/>
            <p:nvPr/>
          </p:nvCxnSpPr>
          <p:spPr bwMode="auto">
            <a:xfrm>
              <a:off x="2520000" y="3960000"/>
              <a:ext cx="1080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/>
          </p:nvCxnSpPr>
          <p:spPr bwMode="auto">
            <a:xfrm rot="5400000">
              <a:off x="3293118" y="3663294"/>
              <a:ext cx="594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49" name="直接连接符 48"/>
            <p:cNvCxnSpPr/>
            <p:nvPr/>
          </p:nvCxnSpPr>
          <p:spPr bwMode="auto">
            <a:xfrm rot="5400000">
              <a:off x="3155812" y="3717012"/>
              <a:ext cx="468562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 rot="5400000">
              <a:off x="2818167" y="3841379"/>
              <a:ext cx="2088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 bwMode="auto">
            <a:xfrm rot="5400000">
              <a:off x="2997853" y="3780761"/>
              <a:ext cx="325686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 bwMode="auto">
            <a:xfrm flipV="1">
              <a:off x="2528074" y="3385346"/>
              <a:ext cx="1071570" cy="571504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3" name="组合 52"/>
          <p:cNvGrpSpPr/>
          <p:nvPr/>
        </p:nvGrpSpPr>
        <p:grpSpPr>
          <a:xfrm rot="10800000">
            <a:off x="5929323" y="4292330"/>
            <a:ext cx="1080000" cy="594500"/>
            <a:chOff x="2520000" y="3367088"/>
            <a:chExt cx="1080000" cy="594500"/>
          </a:xfrm>
        </p:grpSpPr>
        <p:cxnSp>
          <p:nvCxnSpPr>
            <p:cNvPr id="54" name="直接连接符 53"/>
            <p:cNvCxnSpPr/>
            <p:nvPr/>
          </p:nvCxnSpPr>
          <p:spPr bwMode="auto">
            <a:xfrm>
              <a:off x="2520000" y="3960000"/>
              <a:ext cx="1080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 bwMode="auto">
            <a:xfrm rot="5400000">
              <a:off x="3293118" y="3663294"/>
              <a:ext cx="594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 bwMode="auto">
            <a:xfrm rot="5400000">
              <a:off x="3155812" y="3717012"/>
              <a:ext cx="468562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 rot="5400000">
              <a:off x="2818167" y="3841379"/>
              <a:ext cx="2088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 rot="5400000">
              <a:off x="2997853" y="3780761"/>
              <a:ext cx="325686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 flipV="1">
              <a:off x="2528074" y="3385346"/>
              <a:ext cx="1071570" cy="571504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3" name="组合 62"/>
          <p:cNvGrpSpPr/>
          <p:nvPr/>
        </p:nvGrpSpPr>
        <p:grpSpPr>
          <a:xfrm rot="5400000">
            <a:off x="6773244" y="4540939"/>
            <a:ext cx="1080000" cy="594500"/>
            <a:chOff x="2520000" y="3367088"/>
            <a:chExt cx="1080000" cy="594500"/>
          </a:xfrm>
        </p:grpSpPr>
        <p:cxnSp>
          <p:nvCxnSpPr>
            <p:cNvPr id="64" name="直接连接符 63"/>
            <p:cNvCxnSpPr/>
            <p:nvPr/>
          </p:nvCxnSpPr>
          <p:spPr bwMode="auto">
            <a:xfrm>
              <a:off x="2520000" y="3960000"/>
              <a:ext cx="1080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 rot="5400000">
              <a:off x="3293118" y="3663294"/>
              <a:ext cx="5940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 rot="5400000">
              <a:off x="3155812" y="3717012"/>
              <a:ext cx="468562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 rot="5400000">
              <a:off x="2818167" y="3841379"/>
              <a:ext cx="208800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 bwMode="auto">
            <a:xfrm rot="5400000">
              <a:off x="2997853" y="3780761"/>
              <a:ext cx="325686" cy="1588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triangle" w="med" len="lg"/>
              <a:tailEnd type="none" w="lg" len="lg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 flipV="1">
              <a:off x="2528074" y="3385346"/>
              <a:ext cx="1071570" cy="571504"/>
            </a:xfrm>
            <a:prstGeom prst="line">
              <a:avLst/>
            </a:prstGeom>
            <a:noFill/>
            <a:ln w="28575" cap="flat" cmpd="sng" algn="ctr">
              <a:solidFill>
                <a:srgbClr val="FF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8" name="Text Box 30"/>
          <p:cNvSpPr txBox="1">
            <a:spLocks noChangeArrowheads="1"/>
          </p:cNvSpPr>
          <p:nvPr/>
        </p:nvSpPr>
        <p:spPr bwMode="auto">
          <a:xfrm>
            <a:off x="0" y="-28991"/>
            <a:ext cx="2357422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1428728" y="4000504"/>
          <a:ext cx="18843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公式" r:id="rId13" imgW="774364" imgH="431613" progId="">
                  <p:embed/>
                </p:oleObj>
              </mc:Choice>
              <mc:Fallback>
                <p:oleObj name="公式" r:id="rId13" imgW="774364" imgH="431613" progId="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4000504"/>
                        <a:ext cx="1884362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3148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/>
          <p:cNvGrpSpPr/>
          <p:nvPr/>
        </p:nvGrpSpPr>
        <p:grpSpPr>
          <a:xfrm>
            <a:off x="357158" y="2343526"/>
            <a:ext cx="8146486" cy="2534009"/>
            <a:chOff x="214282" y="3538197"/>
            <a:chExt cx="8146486" cy="2534009"/>
          </a:xfrm>
        </p:grpSpPr>
        <p:sp>
          <p:nvSpPr>
            <p:cNvPr id="93" name="Rectangle 20"/>
            <p:cNvSpPr>
              <a:spLocks noChangeArrowheads="1"/>
            </p:cNvSpPr>
            <p:nvPr/>
          </p:nvSpPr>
          <p:spPr bwMode="auto">
            <a:xfrm>
              <a:off x="214282" y="382394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变     形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94" name="Rectangle 20"/>
            <p:cNvSpPr>
              <a:spLocks noChangeArrowheads="1"/>
            </p:cNvSpPr>
            <p:nvPr/>
          </p:nvSpPr>
          <p:spPr bwMode="auto">
            <a:xfrm>
              <a:off x="6286512" y="3823949"/>
              <a:ext cx="1571636" cy="462307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应力分布</a:t>
              </a:r>
              <a:endPara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95" name="Rectangle 20"/>
            <p:cNvSpPr>
              <a:spLocks noChangeArrowheads="1"/>
            </p:cNvSpPr>
            <p:nvPr/>
          </p:nvSpPr>
          <p:spPr bwMode="auto">
            <a:xfrm>
              <a:off x="3000364" y="3823949"/>
              <a:ext cx="1714512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应变分布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6500826" y="5609899"/>
              <a:ext cx="1189047" cy="4623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/>
              <a:r>
                <a:rPr kumimoji="1" lang="zh-CN" altLang="en-US" sz="2400" b="1" smtClean="0">
                  <a:latin typeface="Times New Roman" pitchFamily="18" charset="0"/>
                  <a:ea typeface="黑体" pitchFamily="49" charset="-122"/>
                </a:rPr>
                <a:t>公式</a:t>
              </a:r>
              <a:endParaRPr kumimoji="1" lang="zh-CN" altLang="en-US" sz="2400" b="1"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97" name="直接箭头连接符 96"/>
            <p:cNvCxnSpPr/>
            <p:nvPr/>
          </p:nvCxnSpPr>
          <p:spPr bwMode="auto">
            <a:xfrm>
              <a:off x="1618328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8" name="矩形 97"/>
            <p:cNvSpPr/>
            <p:nvPr/>
          </p:nvSpPr>
          <p:spPr>
            <a:xfrm>
              <a:off x="1500166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平面假定</a:t>
              </a:r>
              <a:endParaRPr kumimoji="1" lang="zh-CN" altLang="en-US" b="1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>
              <a:off x="4857752" y="4038263"/>
              <a:ext cx="1143008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0" name="矩形 99"/>
            <p:cNvSpPr/>
            <p:nvPr/>
          </p:nvSpPr>
          <p:spPr>
            <a:xfrm>
              <a:off x="4786314" y="3538197"/>
              <a:ext cx="12170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物性关系</a:t>
              </a:r>
            </a:p>
          </p:txBody>
        </p:sp>
        <p:sp>
          <p:nvSpPr>
            <p:cNvPr id="101" name="矩形 100"/>
            <p:cNvSpPr/>
            <p:nvPr/>
          </p:nvSpPr>
          <p:spPr>
            <a:xfrm>
              <a:off x="7143768" y="4752643"/>
              <a:ext cx="12170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smtClean="0">
                  <a:solidFill>
                    <a:srgbClr val="008000"/>
                  </a:solidFill>
                  <a:latin typeface="Times New Roman" pitchFamily="18" charset="0"/>
                  <a:ea typeface="黑体" pitchFamily="49" charset="-122"/>
                </a:rPr>
                <a:t>静力方程</a:t>
              </a:r>
            </a:p>
          </p:txBody>
        </p:sp>
        <p:cxnSp>
          <p:nvCxnSpPr>
            <p:cNvPr id="102" name="直接箭头连接符 101"/>
            <p:cNvCxnSpPr/>
            <p:nvPr/>
          </p:nvCxnSpPr>
          <p:spPr bwMode="auto">
            <a:xfrm rot="5400000">
              <a:off x="6465107" y="4930444"/>
              <a:ext cx="1071570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aphicFrame>
        <p:nvGraphicFramePr>
          <p:cNvPr id="103" name="Object 93"/>
          <p:cNvGraphicFramePr>
            <a:graphicFrameLocks noChangeAspect="1"/>
          </p:cNvGraphicFramePr>
          <p:nvPr/>
        </p:nvGraphicFramePr>
        <p:xfrm>
          <a:off x="3214678" y="1772022"/>
          <a:ext cx="15001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86" name="Equation" r:id="rId4" imgW="666688" imgH="380970" progId="">
                  <p:embed/>
                </p:oleObj>
              </mc:Choice>
              <mc:Fallback>
                <p:oleObj name="Equation" r:id="rId4" imgW="666688" imgH="380970" progId="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1772022"/>
                        <a:ext cx="1500187" cy="736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7"/>
          <p:cNvGraphicFramePr>
            <a:graphicFrameLocks noChangeAspect="1"/>
          </p:cNvGraphicFramePr>
          <p:nvPr/>
        </p:nvGraphicFramePr>
        <p:xfrm>
          <a:off x="6500826" y="1772022"/>
          <a:ext cx="1428760" cy="796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87" name="公式" r:id="rId6" imgW="774364" imgH="431613" progId="">
                  <p:embed/>
                </p:oleObj>
              </mc:Choice>
              <mc:Fallback>
                <p:oleObj name="公式" r:id="rId6" imgW="774364" imgH="431613" progId="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26" y="1772022"/>
                        <a:ext cx="1428760" cy="7968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矩形 104"/>
          <p:cNvSpPr/>
          <p:nvPr/>
        </p:nvSpPr>
        <p:spPr>
          <a:xfrm>
            <a:off x="642910" y="4343790"/>
            <a:ext cx="5143536" cy="656846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变形协调</a:t>
            </a:r>
            <a:r>
              <a:rPr kumimoji="1" lang="en-US" altLang="zh-CN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物性关系</a:t>
            </a:r>
            <a:r>
              <a:rPr kumimoji="1" lang="en-US" altLang="zh-CN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平衡方程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4" name="Object 33"/>
          <p:cNvGraphicFramePr>
            <a:graphicFrameLocks noChangeAspect="1"/>
          </p:cNvGraphicFramePr>
          <p:nvPr/>
        </p:nvGraphicFramePr>
        <p:xfrm>
          <a:off x="3327400" y="1643050"/>
          <a:ext cx="17653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" name="Equation" r:id="rId5" imgW="17973565" imgH="8829810" progId="">
                  <p:embed/>
                </p:oleObj>
              </mc:Choice>
              <mc:Fallback>
                <p:oleObj name="Equation" r:id="rId5" imgW="17973565" imgH="8829810" progId="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643050"/>
                        <a:ext cx="1765300" cy="890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12"/>
          <p:cNvSpPr>
            <a:spLocks noChangeArrowheads="1"/>
          </p:cNvSpPr>
          <p:nvPr/>
        </p:nvSpPr>
        <p:spPr bwMode="auto">
          <a:xfrm>
            <a:off x="-32" y="780333"/>
            <a:ext cx="32861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defTabSz="1069975" eaLnBrk="0" hangingPunct="0"/>
            <a:r>
              <a:rPr lang="en-US" altLang="zh-CN" sz="3200" b="1" smtClean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3200" b="1" smtClean="0">
                <a:latin typeface="黑体" pitchFamily="49" charset="-122"/>
                <a:ea typeface="黑体" pitchFamily="49" charset="-122"/>
              </a:rPr>
              <a:t>静力关系</a:t>
            </a:r>
            <a:endParaRPr lang="zh-CN" altLang="en-US" sz="32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矩形 12"/>
          <p:cNvSpPr>
            <a:spLocks noChangeArrowheads="1"/>
          </p:cNvSpPr>
          <p:nvPr/>
        </p:nvSpPr>
        <p:spPr bwMode="auto">
          <a:xfrm>
            <a:off x="0" y="3786190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defTabSz="1069975" eaLnBrk="0" hangingPunct="0"/>
            <a:r>
              <a:rPr lang="zh-CN" altLang="en-US" sz="2800" b="1" smtClean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 b="1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b="1" smtClean="0">
                <a:latin typeface="黑体" pitchFamily="49" charset="-122"/>
                <a:ea typeface="黑体" pitchFamily="49" charset="-122"/>
              </a:rPr>
              <a:t>）切应力公式</a:t>
            </a:r>
            <a:endParaRPr lang="zh-CN" altLang="en-US" sz="2800" b="1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28596" y="1643050"/>
          <a:ext cx="1831917" cy="1005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" name="Equation" r:id="rId7" imgW="660113" imgH="431613" progId="">
                  <p:embed/>
                </p:oleObj>
              </mc:Choice>
              <mc:Fallback>
                <p:oleObj name="Equation" r:id="rId7" imgW="660113" imgH="431613" progId="">
                  <p:embed/>
                  <p:pic>
                    <p:nvPicPr>
                      <p:cNvPr id="0" name="Picture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1643050"/>
                        <a:ext cx="1831917" cy="100559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" name="组合 97"/>
          <p:cNvGrpSpPr/>
          <p:nvPr/>
        </p:nvGrpSpPr>
        <p:grpSpPr>
          <a:xfrm>
            <a:off x="6410782" y="1051183"/>
            <a:ext cx="2161746" cy="2163503"/>
            <a:chOff x="6339344" y="2051315"/>
            <a:chExt cx="2161746" cy="2163503"/>
          </a:xfrm>
        </p:grpSpPr>
        <p:sp>
          <p:nvSpPr>
            <p:cNvPr id="42" name="椭圆 41"/>
            <p:cNvSpPr/>
            <p:nvPr/>
          </p:nvSpPr>
          <p:spPr bwMode="auto">
            <a:xfrm>
              <a:off x="6341090" y="2051315"/>
              <a:ext cx="2160000" cy="2160000"/>
            </a:xfrm>
            <a:prstGeom prst="ellipse">
              <a:avLst/>
            </a:prstGeom>
            <a:solidFill>
              <a:srgbClr val="FFFF00"/>
            </a:solidFill>
            <a:ln w="285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7421090" y="2538403"/>
              <a:ext cx="1080000" cy="594500"/>
              <a:chOff x="2520000" y="3367088"/>
              <a:chExt cx="1080000" cy="594500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>
                <a:off x="2520000" y="3960000"/>
                <a:ext cx="1080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接连接符 44"/>
              <p:cNvCxnSpPr/>
              <p:nvPr/>
            </p:nvCxnSpPr>
            <p:spPr bwMode="auto">
              <a:xfrm rot="5400000">
                <a:off x="3293118" y="3663294"/>
                <a:ext cx="594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3155812" y="3717012"/>
                <a:ext cx="468562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47" name="直接连接符 46"/>
              <p:cNvCxnSpPr/>
              <p:nvPr/>
            </p:nvCxnSpPr>
            <p:spPr bwMode="auto">
              <a:xfrm rot="5400000">
                <a:off x="2818167" y="3841379"/>
                <a:ext cx="2088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48" name="直接连接符 47"/>
              <p:cNvCxnSpPr/>
              <p:nvPr/>
            </p:nvCxnSpPr>
            <p:spPr bwMode="auto">
              <a:xfrm rot="5400000">
                <a:off x="2997853" y="3780761"/>
                <a:ext cx="325686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49" name="直接连接符 48"/>
              <p:cNvCxnSpPr/>
              <p:nvPr/>
            </p:nvCxnSpPr>
            <p:spPr bwMode="auto">
              <a:xfrm flipV="1">
                <a:off x="2528074" y="3385346"/>
                <a:ext cx="1071570" cy="571504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0" name="组合 49"/>
            <p:cNvGrpSpPr/>
            <p:nvPr/>
          </p:nvGrpSpPr>
          <p:grpSpPr>
            <a:xfrm rot="16200000">
              <a:off x="6596660" y="2305998"/>
              <a:ext cx="1080000" cy="594500"/>
              <a:chOff x="2520000" y="3367088"/>
              <a:chExt cx="1080000" cy="594500"/>
            </a:xfrm>
          </p:grpSpPr>
          <p:cxnSp>
            <p:nvCxnSpPr>
              <p:cNvPr id="51" name="直接连接符 50"/>
              <p:cNvCxnSpPr/>
              <p:nvPr/>
            </p:nvCxnSpPr>
            <p:spPr bwMode="auto">
              <a:xfrm>
                <a:off x="2520000" y="3960000"/>
                <a:ext cx="1080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/>
            </p:nvCxnSpPr>
            <p:spPr bwMode="auto">
              <a:xfrm rot="5400000">
                <a:off x="3293118" y="3663294"/>
                <a:ext cx="594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53" name="直接连接符 52"/>
              <p:cNvCxnSpPr/>
              <p:nvPr/>
            </p:nvCxnSpPr>
            <p:spPr bwMode="auto">
              <a:xfrm rot="5400000">
                <a:off x="3155812" y="3717012"/>
                <a:ext cx="468562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54" name="直接连接符 53"/>
              <p:cNvCxnSpPr/>
              <p:nvPr/>
            </p:nvCxnSpPr>
            <p:spPr bwMode="auto">
              <a:xfrm rot="5400000">
                <a:off x="2818167" y="3841379"/>
                <a:ext cx="2088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55" name="直接连接符 54"/>
              <p:cNvCxnSpPr/>
              <p:nvPr/>
            </p:nvCxnSpPr>
            <p:spPr bwMode="auto">
              <a:xfrm rot="5400000">
                <a:off x="2997853" y="3780761"/>
                <a:ext cx="325686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56" name="直接连接符 55"/>
              <p:cNvCxnSpPr/>
              <p:nvPr/>
            </p:nvCxnSpPr>
            <p:spPr bwMode="auto">
              <a:xfrm flipV="1">
                <a:off x="2528074" y="3385346"/>
                <a:ext cx="1071570" cy="571504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7" name="组合 56"/>
            <p:cNvGrpSpPr/>
            <p:nvPr/>
          </p:nvGrpSpPr>
          <p:grpSpPr>
            <a:xfrm rot="10800000">
              <a:off x="6339344" y="3128959"/>
              <a:ext cx="1080000" cy="594500"/>
              <a:chOff x="2520000" y="3367088"/>
              <a:chExt cx="1080000" cy="594500"/>
            </a:xfrm>
          </p:grpSpPr>
          <p:cxnSp>
            <p:nvCxnSpPr>
              <p:cNvPr id="58" name="直接连接符 57"/>
              <p:cNvCxnSpPr/>
              <p:nvPr/>
            </p:nvCxnSpPr>
            <p:spPr bwMode="auto">
              <a:xfrm>
                <a:off x="2520000" y="3960000"/>
                <a:ext cx="1080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接连接符 58"/>
              <p:cNvCxnSpPr/>
              <p:nvPr/>
            </p:nvCxnSpPr>
            <p:spPr bwMode="auto">
              <a:xfrm rot="5400000">
                <a:off x="3293118" y="3663294"/>
                <a:ext cx="594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60" name="直接连接符 59"/>
              <p:cNvCxnSpPr/>
              <p:nvPr/>
            </p:nvCxnSpPr>
            <p:spPr bwMode="auto">
              <a:xfrm rot="5400000">
                <a:off x="3155812" y="3717012"/>
                <a:ext cx="468562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87" name="直接连接符 86"/>
              <p:cNvCxnSpPr/>
              <p:nvPr/>
            </p:nvCxnSpPr>
            <p:spPr bwMode="auto">
              <a:xfrm rot="5400000">
                <a:off x="2818167" y="3841379"/>
                <a:ext cx="2088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88" name="直接连接符 87"/>
              <p:cNvCxnSpPr/>
              <p:nvPr/>
            </p:nvCxnSpPr>
            <p:spPr bwMode="auto">
              <a:xfrm rot="5400000">
                <a:off x="2997853" y="3780761"/>
                <a:ext cx="325686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89" name="直接连接符 88"/>
              <p:cNvCxnSpPr/>
              <p:nvPr/>
            </p:nvCxnSpPr>
            <p:spPr bwMode="auto">
              <a:xfrm flipV="1">
                <a:off x="2528074" y="3385346"/>
                <a:ext cx="1071570" cy="571504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0" name="组合 89"/>
            <p:cNvGrpSpPr/>
            <p:nvPr/>
          </p:nvGrpSpPr>
          <p:grpSpPr>
            <a:xfrm rot="5400000">
              <a:off x="7183265" y="3377568"/>
              <a:ext cx="1080000" cy="594500"/>
              <a:chOff x="2520000" y="3367088"/>
              <a:chExt cx="1080000" cy="594500"/>
            </a:xfrm>
          </p:grpSpPr>
          <p:cxnSp>
            <p:nvCxnSpPr>
              <p:cNvPr id="91" name="直接连接符 90"/>
              <p:cNvCxnSpPr/>
              <p:nvPr/>
            </p:nvCxnSpPr>
            <p:spPr bwMode="auto">
              <a:xfrm>
                <a:off x="2520000" y="3960000"/>
                <a:ext cx="1080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直接连接符 91"/>
              <p:cNvCxnSpPr/>
              <p:nvPr/>
            </p:nvCxnSpPr>
            <p:spPr bwMode="auto">
              <a:xfrm rot="5400000">
                <a:off x="3293118" y="3663294"/>
                <a:ext cx="5940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93" name="直接连接符 92"/>
              <p:cNvCxnSpPr/>
              <p:nvPr/>
            </p:nvCxnSpPr>
            <p:spPr bwMode="auto">
              <a:xfrm rot="5400000">
                <a:off x="3155812" y="3717012"/>
                <a:ext cx="468562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94" name="直接连接符 93"/>
              <p:cNvCxnSpPr/>
              <p:nvPr/>
            </p:nvCxnSpPr>
            <p:spPr bwMode="auto">
              <a:xfrm rot="5400000">
                <a:off x="2818167" y="3841379"/>
                <a:ext cx="20880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95" name="直接连接符 94"/>
              <p:cNvCxnSpPr/>
              <p:nvPr/>
            </p:nvCxnSpPr>
            <p:spPr bwMode="auto">
              <a:xfrm rot="5400000">
                <a:off x="2997853" y="3780761"/>
                <a:ext cx="325686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triangle" w="med" len="lg"/>
                <a:tailEnd type="none" w="lg" len="lg"/>
              </a:ln>
              <a:effectLst/>
            </p:spPr>
          </p:cxnSp>
          <p:cxnSp>
            <p:nvCxnSpPr>
              <p:cNvPr id="96" name="直接连接符 95"/>
              <p:cNvCxnSpPr/>
              <p:nvPr/>
            </p:nvCxnSpPr>
            <p:spPr bwMode="auto">
              <a:xfrm flipV="1">
                <a:off x="2528074" y="3385346"/>
                <a:ext cx="1071570" cy="571504"/>
              </a:xfrm>
              <a:prstGeom prst="line">
                <a:avLst/>
              </a:prstGeom>
              <a:noFill/>
              <a:ln w="28575" cap="flat" cmpd="sng" algn="ctr">
                <a:solidFill>
                  <a:srgbClr val="FF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aphicFrame>
          <p:nvGraphicFramePr>
            <p:cNvPr id="97" name="Object 13"/>
            <p:cNvGraphicFramePr>
              <a:graphicFrameLocks noChangeAspect="1"/>
            </p:cNvGraphicFramePr>
            <p:nvPr/>
          </p:nvGraphicFramePr>
          <p:xfrm>
            <a:off x="7125161" y="3194323"/>
            <a:ext cx="301625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" name="公式" r:id="rId9" imgW="126835" imgH="139518" progId="">
                    <p:embed/>
                  </p:oleObj>
                </mc:Choice>
                <mc:Fallback>
                  <p:oleObj name="公式" r:id="rId9" imgW="126835" imgH="139518" progId="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5161" y="3194323"/>
                          <a:ext cx="301625" cy="331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8" name="组合 107"/>
          <p:cNvGrpSpPr/>
          <p:nvPr/>
        </p:nvGrpSpPr>
        <p:grpSpPr>
          <a:xfrm>
            <a:off x="7215206" y="571480"/>
            <a:ext cx="1571636" cy="2214578"/>
            <a:chOff x="7215206" y="928670"/>
            <a:chExt cx="1571636" cy="2214578"/>
          </a:xfrm>
        </p:grpSpPr>
        <p:sp>
          <p:nvSpPr>
            <p:cNvPr id="99" name="弧形 98"/>
            <p:cNvSpPr/>
            <p:nvPr/>
          </p:nvSpPr>
          <p:spPr bwMode="auto">
            <a:xfrm>
              <a:off x="7215206" y="1285860"/>
              <a:ext cx="1571636" cy="1857388"/>
            </a:xfrm>
            <a:prstGeom prst="arc">
              <a:avLst>
                <a:gd name="adj1" fmla="val 16369817"/>
                <a:gd name="adj2" fmla="val 132326"/>
              </a:avLst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graphicFrame>
          <p:nvGraphicFramePr>
            <p:cNvPr id="4107" name="Object 11"/>
            <p:cNvGraphicFramePr>
              <a:graphicFrameLocks noChangeAspect="1"/>
            </p:cNvGraphicFramePr>
            <p:nvPr/>
          </p:nvGraphicFramePr>
          <p:xfrm>
            <a:off x="7643834" y="928670"/>
            <a:ext cx="427040" cy="504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" name="Equation" r:id="rId11" imgW="139579" imgH="164957" progId="">
                    <p:embed/>
                  </p:oleObj>
                </mc:Choice>
                <mc:Fallback>
                  <p:oleObj name="Equation" r:id="rId11" imgW="139579" imgH="164957" progId="">
                    <p:embed/>
                    <p:pic>
                      <p:nvPicPr>
                        <p:cNvPr id="0" name="Picture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3834" y="928670"/>
                          <a:ext cx="427040" cy="504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778701"/>
              </p:ext>
            </p:extLst>
          </p:nvPr>
        </p:nvGraphicFramePr>
        <p:xfrm>
          <a:off x="539552" y="4615373"/>
          <a:ext cx="18097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" name="Equation" r:id="rId13" imgW="558558" imgH="431613" progId="">
                  <p:embed/>
                </p:oleObj>
              </mc:Choice>
              <mc:Fallback>
                <p:oleObj name="Equation" r:id="rId13" imgW="558558" imgH="431613" progId="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615373"/>
                        <a:ext cx="1809750" cy="117316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1123"/>
          <p:cNvSpPr>
            <a:spLocks noChangeArrowheads="1"/>
          </p:cNvSpPr>
          <p:nvPr/>
        </p:nvSpPr>
        <p:spPr bwMode="auto">
          <a:xfrm>
            <a:off x="3174741" y="4630757"/>
            <a:ext cx="3890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式中：</a:t>
            </a:r>
            <a:r>
              <a:rPr kumimoji="1" lang="en-US" altLang="zh-CN" sz="2400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— </a:t>
            </a:r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横截面上的扭矩</a:t>
            </a:r>
          </a:p>
        </p:txBody>
      </p:sp>
      <p:sp>
        <p:nvSpPr>
          <p:cNvPr id="102" name="Rectangle 1124"/>
          <p:cNvSpPr>
            <a:spLocks noChangeArrowheads="1"/>
          </p:cNvSpPr>
          <p:nvPr/>
        </p:nvSpPr>
        <p:spPr bwMode="auto">
          <a:xfrm>
            <a:off x="3802868" y="5110182"/>
            <a:ext cx="477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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 — </a:t>
            </a:r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求应力的点到圆心的距离</a:t>
            </a:r>
          </a:p>
        </p:txBody>
      </p:sp>
      <p:sp>
        <p:nvSpPr>
          <p:cNvPr id="103" name="Text Box 1125"/>
          <p:cNvSpPr txBox="1">
            <a:spLocks noChangeArrowheads="1"/>
          </p:cNvSpPr>
          <p:nvPr/>
        </p:nvSpPr>
        <p:spPr bwMode="auto">
          <a:xfrm>
            <a:off x="3798805" y="5686444"/>
            <a:ext cx="477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—</a:t>
            </a:r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横截面对圆心的 极惯性矩</a:t>
            </a:r>
          </a:p>
        </p:txBody>
      </p:sp>
      <p:cxnSp>
        <p:nvCxnSpPr>
          <p:cNvPr id="104" name="直接连接符 103"/>
          <p:cNvCxnSpPr/>
          <p:nvPr/>
        </p:nvCxnSpPr>
        <p:spPr bwMode="auto">
          <a:xfrm>
            <a:off x="142844" y="3357562"/>
            <a:ext cx="7429552" cy="1588"/>
          </a:xfrm>
          <a:prstGeom prst="line">
            <a:avLst/>
          </a:prstGeom>
          <a:noFill/>
          <a:ln w="28575" cap="flat" cmpd="sng" algn="ctr">
            <a:solidFill>
              <a:srgbClr val="33CC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 Box 30"/>
          <p:cNvSpPr txBox="1">
            <a:spLocks noChangeArrowheads="1"/>
          </p:cNvSpPr>
          <p:nvPr/>
        </p:nvSpPr>
        <p:spPr bwMode="auto">
          <a:xfrm>
            <a:off x="0" y="-28991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" name="Rectangle 1123"/>
          <p:cNvSpPr>
            <a:spLocks noChangeArrowheads="1"/>
          </p:cNvSpPr>
          <p:nvPr/>
        </p:nvSpPr>
        <p:spPr bwMode="auto">
          <a:xfrm>
            <a:off x="3491880" y="2657408"/>
            <a:ext cx="14221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极惯性矩</a:t>
            </a:r>
            <a:endParaRPr kumimoji="1"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  <p:custDataLst>
      <p:tags r:id="rId2"/>
    </p:custDataLst>
  </p:cSld>
  <p:clrMapOvr>
    <a:masterClrMapping/>
  </p:clrMapOvr>
  <p:transition advTm="949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01" grpId="0" autoUpdateAnimBg="0"/>
      <p:bldP spid="102" grpId="0" autoUpdateAnimBg="0"/>
      <p:bldP spid="103" grpId="0" autoUpdateAnimBg="0"/>
      <p:bldP spid="6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242012"/>
              </p:ext>
            </p:extLst>
          </p:nvPr>
        </p:nvGraphicFramePr>
        <p:xfrm>
          <a:off x="6515100" y="1698985"/>
          <a:ext cx="1485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" name="公式" r:id="rId5" imgW="35652145" imgH="23155200" progId="">
                  <p:embed/>
                </p:oleObj>
              </mc:Choice>
              <mc:Fallback>
                <p:oleObj name="公式" r:id="rId5" imgW="35652145" imgH="23155200" progId="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98985"/>
                        <a:ext cx="14859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63"/>
          <p:cNvSpPr txBox="1">
            <a:spLocks noChangeArrowheads="1"/>
          </p:cNvSpPr>
          <p:nvPr/>
        </p:nvSpPr>
        <p:spPr bwMode="auto">
          <a:xfrm>
            <a:off x="71406" y="817548"/>
            <a:ext cx="3000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（</a:t>
            </a:r>
            <a:r>
              <a:rPr kumimoji="1" lang="en-US" altLang="zh-CN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）最大切应力</a:t>
            </a:r>
            <a:endParaRPr kumimoji="1" lang="en-US" altLang="zh-CN" sz="28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6" name="Text Box 41"/>
          <p:cNvSpPr txBox="1">
            <a:spLocks noChangeArrowheads="1"/>
          </p:cNvSpPr>
          <p:nvPr/>
        </p:nvSpPr>
        <p:spPr bwMode="auto">
          <a:xfrm>
            <a:off x="214282" y="3284984"/>
            <a:ext cx="8358246" cy="41580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华文中宋" pitchFamily="2" charset="-122"/>
              </a:rPr>
              <a:t>注意：</a:t>
            </a:r>
            <a:r>
              <a:rPr lang="zh-CN" altLang="en-US" b="1">
                <a:latin typeface="华文中宋" pitchFamily="2" charset="-122"/>
              </a:rPr>
              <a:t>上面的切应力公式只有在</a:t>
            </a:r>
            <a:r>
              <a:rPr lang="zh-CN" altLang="en-US" b="1">
                <a:solidFill>
                  <a:srgbClr val="FF0000"/>
                </a:solidFill>
                <a:latin typeface="华文中宋" pitchFamily="2" charset="-122"/>
              </a:rPr>
              <a:t>等直圆轴</a:t>
            </a:r>
            <a:r>
              <a:rPr lang="zh-CN" altLang="en-US" b="1">
                <a:latin typeface="华文中宋" pitchFamily="2" charset="-122"/>
              </a:rPr>
              <a:t>且处于</a:t>
            </a:r>
            <a:r>
              <a:rPr lang="zh-CN" altLang="en-US" b="1">
                <a:solidFill>
                  <a:srgbClr val="0000FF"/>
                </a:solidFill>
                <a:latin typeface="华文中宋" pitchFamily="2" charset="-122"/>
              </a:rPr>
              <a:t>线弹性范围</a:t>
            </a:r>
            <a:r>
              <a:rPr lang="zh-CN" altLang="en-US" b="1">
                <a:latin typeface="华文中宋" pitchFamily="2" charset="-122"/>
              </a:rPr>
              <a:t>时才能使用。</a:t>
            </a:r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874203"/>
              </p:ext>
            </p:extLst>
          </p:nvPr>
        </p:nvGraphicFramePr>
        <p:xfrm>
          <a:off x="2571736" y="1556222"/>
          <a:ext cx="1127125" cy="14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2" name="公式" r:id="rId7" imgW="482391" imgH="634725" progId="">
                  <p:embed/>
                </p:oleObj>
              </mc:Choice>
              <mc:Fallback>
                <p:oleObj name="公式" r:id="rId7" imgW="482391" imgH="634725" progId="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1556222"/>
                        <a:ext cx="1127125" cy="14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066018"/>
              </p:ext>
            </p:extLst>
          </p:nvPr>
        </p:nvGraphicFramePr>
        <p:xfrm>
          <a:off x="214282" y="1484784"/>
          <a:ext cx="2220701" cy="121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" name="公式" r:id="rId9" imgW="812447" imgH="444307" progId="">
                  <p:embed/>
                </p:oleObj>
              </mc:Choice>
              <mc:Fallback>
                <p:oleObj name="公式" r:id="rId9" imgW="812447" imgH="444307" progId="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484784"/>
                        <a:ext cx="2220701" cy="1214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508537"/>
              </p:ext>
            </p:extLst>
          </p:nvPr>
        </p:nvGraphicFramePr>
        <p:xfrm>
          <a:off x="3929058" y="1556222"/>
          <a:ext cx="850953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4" name="公式" r:id="rId11" imgW="342751" imgH="431613" progId="">
                  <p:embed/>
                </p:oleObj>
              </mc:Choice>
              <mc:Fallback>
                <p:oleObj name="公式" r:id="rId11" imgW="342751" imgH="431613" progId="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1556222"/>
                        <a:ext cx="850953" cy="107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 bwMode="auto">
          <a:xfrm>
            <a:off x="2786050" y="2056288"/>
            <a:ext cx="928694" cy="1000132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marR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0" y="-28991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矩形 12"/>
          <p:cNvSpPr>
            <a:spLocks noChangeArrowheads="1"/>
          </p:cNvSpPr>
          <p:nvPr/>
        </p:nvSpPr>
        <p:spPr bwMode="auto">
          <a:xfrm>
            <a:off x="142844" y="3819224"/>
            <a:ext cx="17859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defTabSz="1069975" eaLnBrk="0" hangingPunct="0"/>
            <a:r>
              <a:rPr lang="zh-CN" altLang="en-US" sz="28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问</a:t>
            </a: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题：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66133" y="4325136"/>
            <a:ext cx="6980237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 Box 41"/>
          <p:cNvSpPr txBox="1">
            <a:spLocks noChangeArrowheads="1"/>
          </p:cNvSpPr>
          <p:nvPr/>
        </p:nvSpPr>
        <p:spPr bwMode="auto">
          <a:xfrm>
            <a:off x="1259632" y="3909331"/>
            <a:ext cx="7500990" cy="41580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b="1" smtClean="0">
                <a:latin typeface="华文中宋" pitchFamily="2" charset="-122"/>
              </a:rPr>
              <a:t>判断下图中切应力分布的对错，并说明原因。</a:t>
            </a:r>
            <a:endParaRPr lang="zh-CN" altLang="en-US" b="1">
              <a:latin typeface="华文中宋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42844" y="3789040"/>
            <a:ext cx="8749636" cy="0"/>
          </a:xfrm>
          <a:prstGeom prst="lin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2"/>
    </p:custDataLst>
  </p:cSld>
  <p:clrMapOvr>
    <a:masterClrMapping/>
  </p:clrMapOvr>
  <p:transition advTm="245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utoUpdateAnimBg="0"/>
      <p:bldP spid="22" grpId="0" animBg="1"/>
      <p:bldP spid="10" grpId="0"/>
      <p:bldP spid="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07504" y="1537628"/>
            <a:ext cx="26066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）实心圆截面</a:t>
            </a:r>
          </a:p>
        </p:txBody>
      </p:sp>
      <p:grpSp>
        <p:nvGrpSpPr>
          <p:cNvPr id="16" name="Group 46"/>
          <p:cNvGrpSpPr>
            <a:grpSpLocks/>
          </p:cNvGrpSpPr>
          <p:nvPr/>
        </p:nvGrpSpPr>
        <p:grpSpPr bwMode="auto">
          <a:xfrm>
            <a:off x="5867400" y="1484784"/>
            <a:ext cx="2895600" cy="2408238"/>
            <a:chOff x="3696" y="1896"/>
            <a:chExt cx="1824" cy="1517"/>
          </a:xfrm>
        </p:grpSpPr>
        <p:sp>
          <p:nvSpPr>
            <p:cNvPr id="17" name="Oval 4"/>
            <p:cNvSpPr>
              <a:spLocks noChangeArrowheads="1"/>
            </p:cNvSpPr>
            <p:nvPr/>
          </p:nvSpPr>
          <p:spPr bwMode="auto">
            <a:xfrm>
              <a:off x="4128" y="2086"/>
              <a:ext cx="1248" cy="1219"/>
            </a:xfrm>
            <a:prstGeom prst="ellipse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H="1">
              <a:off x="3888" y="2086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 flipH="1">
              <a:off x="3888" y="3305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3936" y="2086"/>
              <a:ext cx="0" cy="12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3696" y="2537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d</a:t>
              </a:r>
              <a:endParaRPr kumimoji="1" lang="en-US" altLang="zh-CN" sz="2400" b="1" i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4512" y="2655"/>
              <a:ext cx="1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>
              <a:off x="4032" y="2697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>
              <a:off x="4752" y="1896"/>
              <a:ext cx="0" cy="15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-71470" y="834078"/>
            <a:ext cx="61436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（</a:t>
            </a:r>
            <a:r>
              <a:rPr kumimoji="1" lang="en-US" altLang="zh-CN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）极惯性矩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和</a:t>
            </a:r>
            <a:r>
              <a:rPr kumimoji="1" lang="zh-CN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抗扭截面</a:t>
            </a:r>
            <a:r>
              <a:rPr kumimoji="1" lang="zh-CN" altLang="zh-CN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系数的计算</a:t>
            </a:r>
            <a:endParaRPr kumimoji="1" lang="en-US" altLang="zh-CN" sz="2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2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842537"/>
              </p:ext>
            </p:extLst>
          </p:nvPr>
        </p:nvGraphicFramePr>
        <p:xfrm>
          <a:off x="6588224" y="984236"/>
          <a:ext cx="210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0" name="公式" r:id="rId5" imgW="50587255" imgH="9439200" progId="">
                  <p:embed/>
                </p:oleObj>
              </mc:Choice>
              <mc:Fallback>
                <p:oleObj name="公式" r:id="rId5" imgW="50587255" imgH="9439200" progId="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984236"/>
                        <a:ext cx="2108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994458"/>
              </p:ext>
            </p:extLst>
          </p:nvPr>
        </p:nvGraphicFramePr>
        <p:xfrm>
          <a:off x="842165" y="2060848"/>
          <a:ext cx="18716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1" name="公式" r:id="rId7" imgW="20107345" imgH="7305660" progId="">
                  <p:embed/>
                </p:oleObj>
              </mc:Choice>
              <mc:Fallback>
                <p:oleObj name="公式" r:id="rId7" imgW="20107345" imgH="7305660" progId="">
                  <p:embed/>
                  <p:pic>
                    <p:nvPicPr>
                      <p:cNvPr id="0" name="Picture 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165" y="2060848"/>
                        <a:ext cx="1871663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187889"/>
              </p:ext>
            </p:extLst>
          </p:nvPr>
        </p:nvGraphicFramePr>
        <p:xfrm>
          <a:off x="755576" y="2924944"/>
          <a:ext cx="3401314" cy="842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" name="公式" r:id="rId9" imgW="94783165" imgH="23460030" progId="">
                  <p:embed/>
                </p:oleObj>
              </mc:Choice>
              <mc:Fallback>
                <p:oleObj name="公式" r:id="rId9" imgW="94783165" imgH="23460030" progId="">
                  <p:embed/>
                  <p:pic>
                    <p:nvPicPr>
                      <p:cNvPr id="0" name="Picture 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924944"/>
                        <a:ext cx="3401314" cy="842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48"/>
          <p:cNvGrpSpPr>
            <a:grpSpLocks/>
          </p:cNvGrpSpPr>
          <p:nvPr/>
        </p:nvGrpSpPr>
        <p:grpSpPr bwMode="auto">
          <a:xfrm>
            <a:off x="6877050" y="2016597"/>
            <a:ext cx="2266950" cy="1444625"/>
            <a:chOff x="4332" y="2205"/>
            <a:chExt cx="1428" cy="910"/>
          </a:xfrm>
        </p:grpSpPr>
        <p:sp>
          <p:nvSpPr>
            <p:cNvPr id="30" name="AutoShape 17" descr="深色上对角线"/>
            <p:cNvSpPr>
              <a:spLocks noChangeArrowheads="1"/>
            </p:cNvSpPr>
            <p:nvPr/>
          </p:nvSpPr>
          <p:spPr bwMode="auto">
            <a:xfrm>
              <a:off x="4332" y="2251"/>
              <a:ext cx="864" cy="864"/>
            </a:xfrm>
            <a:custGeom>
              <a:avLst/>
              <a:gdLst>
                <a:gd name="G0" fmla="+- 1825 0 0"/>
                <a:gd name="G1" fmla="+- 21600 0 1825"/>
                <a:gd name="G2" fmla="+- 21600 0 1825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25" y="10800"/>
                  </a:moveTo>
                  <a:cubicBezTo>
                    <a:pt x="1825" y="15757"/>
                    <a:pt x="5843" y="19775"/>
                    <a:pt x="10800" y="19775"/>
                  </a:cubicBezTo>
                  <a:cubicBezTo>
                    <a:pt x="15757" y="19775"/>
                    <a:pt x="19775" y="15757"/>
                    <a:pt x="19775" y="10800"/>
                  </a:cubicBezTo>
                  <a:cubicBezTo>
                    <a:pt x="19775" y="5843"/>
                    <a:pt x="15757" y="1825"/>
                    <a:pt x="10800" y="1825"/>
                  </a:cubicBezTo>
                  <a:cubicBezTo>
                    <a:pt x="5843" y="1825"/>
                    <a:pt x="1825" y="5843"/>
                    <a:pt x="1825" y="10800"/>
                  </a:cubicBezTo>
                  <a:close/>
                </a:path>
              </a:pathLst>
            </a:custGeom>
            <a:pattFill prst="dkUpDiag">
              <a:fgClr>
                <a:srgbClr val="FF0000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" name="Group 47"/>
            <p:cNvGrpSpPr>
              <a:grpSpLocks/>
            </p:cNvGrpSpPr>
            <p:nvPr/>
          </p:nvGrpSpPr>
          <p:grpSpPr bwMode="auto">
            <a:xfrm>
              <a:off x="4694" y="2205"/>
              <a:ext cx="1066" cy="470"/>
              <a:chOff x="4694" y="2205"/>
              <a:chExt cx="1066" cy="470"/>
            </a:xfrm>
          </p:grpSpPr>
          <p:sp>
            <p:nvSpPr>
              <p:cNvPr id="32" name="Line 18"/>
              <p:cNvSpPr>
                <a:spLocks noChangeShapeType="1"/>
              </p:cNvSpPr>
              <p:nvPr/>
            </p:nvSpPr>
            <p:spPr bwMode="auto">
              <a:xfrm flipH="1">
                <a:off x="5148" y="2387"/>
                <a:ext cx="144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20"/>
              <p:cNvSpPr>
                <a:spLocks noChangeShapeType="1"/>
              </p:cNvSpPr>
              <p:nvPr/>
            </p:nvSpPr>
            <p:spPr bwMode="auto">
              <a:xfrm flipV="1">
                <a:off x="4764" y="2506"/>
                <a:ext cx="336" cy="1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44"/>
              <p:cNvSpPr txBox="1">
                <a:spLocks noChangeArrowheads="1"/>
              </p:cNvSpPr>
              <p:nvPr/>
            </p:nvSpPr>
            <p:spPr bwMode="auto">
              <a:xfrm>
                <a:off x="4694" y="2368"/>
                <a:ext cx="454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</a:pPr>
                <a:r>
                  <a:rPr kumimoji="1" lang="el-GR" altLang="zh-CN" sz="2400" b="1" i="1">
                    <a:latin typeface="Times New Roman" pitchFamily="18" charset="0"/>
                    <a:cs typeface="Times New Roman" pitchFamily="18" charset="0"/>
                  </a:rPr>
                  <a:t>ρ</a:t>
                </a:r>
              </a:p>
            </p:txBody>
          </p:sp>
          <p:sp>
            <p:nvSpPr>
              <p:cNvPr id="35" name="Text Box 45"/>
              <p:cNvSpPr txBox="1">
                <a:spLocks noChangeArrowheads="1"/>
              </p:cNvSpPr>
              <p:nvPr/>
            </p:nvSpPr>
            <p:spPr bwMode="auto">
              <a:xfrm>
                <a:off x="5306" y="2205"/>
                <a:ext cx="454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kumimoji="1" lang="el-GR" altLang="zh-CN" sz="2400" b="1" i="1">
                    <a:latin typeface="Times New Roman" pitchFamily="18" charset="0"/>
                    <a:cs typeface="Times New Roman" pitchFamily="18" charset="0"/>
                  </a:rPr>
                  <a:t>ρ</a:t>
                </a:r>
              </a:p>
            </p:txBody>
          </p:sp>
        </p:grpSp>
      </p:grpSp>
      <p:graphicFrame>
        <p:nvGraphicFramePr>
          <p:cNvPr id="63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777627"/>
              </p:ext>
            </p:extLst>
          </p:nvPr>
        </p:nvGraphicFramePr>
        <p:xfrm>
          <a:off x="2915593" y="1916832"/>
          <a:ext cx="23764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3" name="公式" r:id="rId11" imgW="30470455" imgH="10353690" progId="">
                  <p:embed/>
                </p:oleObj>
              </mc:Choice>
              <mc:Fallback>
                <p:oleObj name="公式" r:id="rId11" imgW="30470455" imgH="10353690" progId="">
                  <p:embed/>
                  <p:pic>
                    <p:nvPicPr>
                      <p:cNvPr id="0" name="Picture 2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593" y="1916832"/>
                        <a:ext cx="23764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0" y="-28991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切应力计算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6" name="Group 63"/>
          <p:cNvGrpSpPr>
            <a:grpSpLocks/>
          </p:cNvGrpSpPr>
          <p:nvPr/>
        </p:nvGrpSpPr>
        <p:grpSpPr bwMode="auto">
          <a:xfrm>
            <a:off x="5429256" y="4156447"/>
            <a:ext cx="3505200" cy="2498725"/>
            <a:chOff x="3264" y="1153"/>
            <a:chExt cx="2208" cy="1574"/>
          </a:xfrm>
        </p:grpSpPr>
        <p:grpSp>
          <p:nvGrpSpPr>
            <p:cNvPr id="38" name="Group 64"/>
            <p:cNvGrpSpPr>
              <a:grpSpLocks/>
            </p:cNvGrpSpPr>
            <p:nvPr/>
          </p:nvGrpSpPr>
          <p:grpSpPr bwMode="auto">
            <a:xfrm>
              <a:off x="3936" y="1178"/>
              <a:ext cx="1536" cy="1526"/>
              <a:chOff x="3936" y="1178"/>
              <a:chExt cx="1536" cy="1526"/>
            </a:xfrm>
          </p:grpSpPr>
          <p:sp>
            <p:nvSpPr>
              <p:cNvPr id="48" name="AutoShape 65"/>
              <p:cNvSpPr>
                <a:spLocks noChangeArrowheads="1"/>
              </p:cNvSpPr>
              <p:nvPr/>
            </p:nvSpPr>
            <p:spPr bwMode="auto">
              <a:xfrm>
                <a:off x="3936" y="1178"/>
                <a:ext cx="1536" cy="1526"/>
              </a:xfrm>
              <a:custGeom>
                <a:avLst/>
                <a:gdLst>
                  <a:gd name="G0" fmla="+- 5400 0 0"/>
                  <a:gd name="G1" fmla="+- 21600 0 5400"/>
                  <a:gd name="G2" fmla="+- 21600 0 5400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solidFill>
                <a:srgbClr val="CC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Text Box 66"/>
              <p:cNvSpPr txBox="1">
                <a:spLocks noChangeArrowheads="1"/>
              </p:cNvSpPr>
              <p:nvPr/>
            </p:nvSpPr>
            <p:spPr bwMode="auto">
              <a:xfrm>
                <a:off x="4649" y="1824"/>
                <a:ext cx="1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itchFamily="18" charset="0"/>
                  </a:rPr>
                  <a:t>O</a:t>
                </a:r>
              </a:p>
            </p:txBody>
          </p:sp>
          <p:sp>
            <p:nvSpPr>
              <p:cNvPr id="50" name="Oval 67"/>
              <p:cNvSpPr>
                <a:spLocks noChangeArrowheads="1"/>
              </p:cNvSpPr>
              <p:nvPr/>
            </p:nvSpPr>
            <p:spPr bwMode="auto">
              <a:xfrm>
                <a:off x="4656" y="18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" name="Group 68"/>
            <p:cNvGrpSpPr>
              <a:grpSpLocks/>
            </p:cNvGrpSpPr>
            <p:nvPr/>
          </p:nvGrpSpPr>
          <p:grpSpPr bwMode="auto">
            <a:xfrm>
              <a:off x="3264" y="1153"/>
              <a:ext cx="1488" cy="1574"/>
              <a:chOff x="3264" y="1153"/>
              <a:chExt cx="1488" cy="1574"/>
            </a:xfrm>
          </p:grpSpPr>
          <p:sp>
            <p:nvSpPr>
              <p:cNvPr id="40" name="Line 69"/>
              <p:cNvSpPr>
                <a:spLocks noChangeShapeType="1"/>
              </p:cNvSpPr>
              <p:nvPr/>
            </p:nvSpPr>
            <p:spPr bwMode="auto">
              <a:xfrm>
                <a:off x="3456" y="1171"/>
                <a:ext cx="1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70"/>
              <p:cNvSpPr>
                <a:spLocks noChangeShapeType="1"/>
              </p:cNvSpPr>
              <p:nvPr/>
            </p:nvSpPr>
            <p:spPr bwMode="auto">
              <a:xfrm flipH="1">
                <a:off x="3450" y="2704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71"/>
              <p:cNvSpPr>
                <a:spLocks noChangeShapeType="1"/>
              </p:cNvSpPr>
              <p:nvPr/>
            </p:nvSpPr>
            <p:spPr bwMode="auto">
              <a:xfrm flipH="1">
                <a:off x="3792" y="1570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72"/>
              <p:cNvSpPr>
                <a:spLocks noChangeShapeType="1"/>
              </p:cNvSpPr>
              <p:nvPr/>
            </p:nvSpPr>
            <p:spPr bwMode="auto">
              <a:xfrm flipH="1">
                <a:off x="3792" y="2322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73"/>
              <p:cNvSpPr>
                <a:spLocks noChangeShapeType="1"/>
              </p:cNvSpPr>
              <p:nvPr/>
            </p:nvSpPr>
            <p:spPr bwMode="auto">
              <a:xfrm flipH="1">
                <a:off x="3552" y="1153"/>
                <a:ext cx="8" cy="15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Text Box 74"/>
              <p:cNvSpPr txBox="1">
                <a:spLocks noChangeArrowheads="1"/>
              </p:cNvSpPr>
              <p:nvPr/>
            </p:nvSpPr>
            <p:spPr bwMode="auto">
              <a:xfrm>
                <a:off x="3264" y="1680"/>
                <a:ext cx="38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46" name="Text Box 75"/>
              <p:cNvSpPr txBox="1">
                <a:spLocks noChangeArrowheads="1"/>
              </p:cNvSpPr>
              <p:nvPr/>
            </p:nvSpPr>
            <p:spPr bwMode="auto">
              <a:xfrm>
                <a:off x="3648" y="1776"/>
                <a:ext cx="1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47" name="Line 76"/>
              <p:cNvSpPr>
                <a:spLocks noChangeShapeType="1"/>
              </p:cNvSpPr>
              <p:nvPr/>
            </p:nvSpPr>
            <p:spPr bwMode="auto">
              <a:xfrm>
                <a:off x="3878" y="1570"/>
                <a:ext cx="0" cy="7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1" name="Group 77"/>
          <p:cNvGrpSpPr>
            <a:grpSpLocks/>
          </p:cNvGrpSpPr>
          <p:nvPr/>
        </p:nvGrpSpPr>
        <p:grpSpPr bwMode="auto">
          <a:xfrm>
            <a:off x="6745294" y="4077072"/>
            <a:ext cx="2486025" cy="2289175"/>
            <a:chOff x="4081" y="1117"/>
            <a:chExt cx="1566" cy="1442"/>
          </a:xfrm>
        </p:grpSpPr>
        <p:sp>
          <p:nvSpPr>
            <p:cNvPr id="52" name="AutoShape 78" descr="深色上对角线"/>
            <p:cNvSpPr>
              <a:spLocks noChangeArrowheads="1"/>
            </p:cNvSpPr>
            <p:nvPr/>
          </p:nvSpPr>
          <p:spPr bwMode="auto">
            <a:xfrm>
              <a:off x="4081" y="1340"/>
              <a:ext cx="1248" cy="1219"/>
            </a:xfrm>
            <a:custGeom>
              <a:avLst/>
              <a:gdLst>
                <a:gd name="G0" fmla="+- 1530 0 0"/>
                <a:gd name="G1" fmla="+- 21600 0 1530"/>
                <a:gd name="G2" fmla="+- 21600 0 15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530" y="10800"/>
                  </a:moveTo>
                  <a:cubicBezTo>
                    <a:pt x="1530" y="15920"/>
                    <a:pt x="5680" y="20070"/>
                    <a:pt x="10800" y="20070"/>
                  </a:cubicBezTo>
                  <a:cubicBezTo>
                    <a:pt x="15920" y="20070"/>
                    <a:pt x="20070" y="15920"/>
                    <a:pt x="20070" y="10800"/>
                  </a:cubicBezTo>
                  <a:cubicBezTo>
                    <a:pt x="20070" y="5680"/>
                    <a:pt x="15920" y="1530"/>
                    <a:pt x="10800" y="1530"/>
                  </a:cubicBezTo>
                  <a:cubicBezTo>
                    <a:pt x="5680" y="1530"/>
                    <a:pt x="1530" y="5680"/>
                    <a:pt x="1530" y="10800"/>
                  </a:cubicBezTo>
                  <a:close/>
                </a:path>
              </a:pathLst>
            </a:custGeom>
            <a:pattFill prst="dkUpDiag">
              <a:fgClr>
                <a:srgbClr val="FF0000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" name="Group 79"/>
            <p:cNvGrpSpPr>
              <a:grpSpLocks/>
            </p:cNvGrpSpPr>
            <p:nvPr/>
          </p:nvGrpSpPr>
          <p:grpSpPr bwMode="auto">
            <a:xfrm>
              <a:off x="4603" y="1117"/>
              <a:ext cx="1044" cy="771"/>
              <a:chOff x="4603" y="1117"/>
              <a:chExt cx="1044" cy="771"/>
            </a:xfrm>
          </p:grpSpPr>
          <p:sp>
            <p:nvSpPr>
              <p:cNvPr id="54" name="Line 80"/>
              <p:cNvSpPr>
                <a:spLocks noChangeShapeType="1"/>
              </p:cNvSpPr>
              <p:nvPr/>
            </p:nvSpPr>
            <p:spPr bwMode="auto">
              <a:xfrm flipV="1">
                <a:off x="4694" y="1588"/>
                <a:ext cx="440" cy="3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81"/>
              <p:cNvSpPr>
                <a:spLocks noChangeShapeType="1"/>
              </p:cNvSpPr>
              <p:nvPr/>
            </p:nvSpPr>
            <p:spPr bwMode="auto">
              <a:xfrm flipV="1">
                <a:off x="5329" y="1344"/>
                <a:ext cx="182" cy="1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 Box 82"/>
              <p:cNvSpPr txBox="1">
                <a:spLocks noChangeArrowheads="1"/>
              </p:cNvSpPr>
              <p:nvPr/>
            </p:nvSpPr>
            <p:spPr bwMode="auto">
              <a:xfrm>
                <a:off x="4603" y="1525"/>
                <a:ext cx="454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</a:pPr>
                <a:r>
                  <a:rPr kumimoji="1" lang="el-GR" altLang="zh-CN" sz="2400" b="1" i="1">
                    <a:latin typeface="Times New Roman" pitchFamily="18" charset="0"/>
                    <a:cs typeface="Times New Roman" pitchFamily="18" charset="0"/>
                  </a:rPr>
                  <a:t>ρ</a:t>
                </a:r>
              </a:p>
            </p:txBody>
          </p:sp>
          <p:sp>
            <p:nvSpPr>
              <p:cNvPr id="57" name="Text Box 83"/>
              <p:cNvSpPr txBox="1">
                <a:spLocks noChangeArrowheads="1"/>
              </p:cNvSpPr>
              <p:nvPr/>
            </p:nvSpPr>
            <p:spPr bwMode="auto">
              <a:xfrm>
                <a:off x="5193" y="1117"/>
                <a:ext cx="454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kumimoji="1" lang="el-GR" altLang="zh-CN" sz="2400" b="1" i="1">
                    <a:latin typeface="Times New Roman" pitchFamily="18" charset="0"/>
                    <a:cs typeface="Times New Roman" pitchFamily="18" charset="0"/>
                  </a:rPr>
                  <a:t>ρ</a:t>
                </a:r>
              </a:p>
            </p:txBody>
          </p:sp>
        </p:grpSp>
      </p:grpSp>
      <p:sp>
        <p:nvSpPr>
          <p:cNvPr id="58" name="Text Box 84"/>
          <p:cNvSpPr txBox="1">
            <a:spLocks noChangeArrowheads="1"/>
          </p:cNvSpPr>
          <p:nvPr/>
        </p:nvSpPr>
        <p:spPr bwMode="auto">
          <a:xfrm>
            <a:off x="251520" y="3933056"/>
            <a:ext cx="32861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）空心圆截面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59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391997"/>
              </p:ext>
            </p:extLst>
          </p:nvPr>
        </p:nvGraphicFramePr>
        <p:xfrm>
          <a:off x="666740" y="4656239"/>
          <a:ext cx="247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4" name="公式" r:id="rId13" imgW="59426545" imgH="21326490" progId="">
                  <p:embed/>
                </p:oleObj>
              </mc:Choice>
              <mc:Fallback>
                <p:oleObj name="公式" r:id="rId13" imgW="59426545" imgH="21326490" progId="">
                  <p:embed/>
                  <p:pic>
                    <p:nvPicPr>
                      <p:cNvPr id="0" name="Picture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40" y="4656239"/>
                        <a:ext cx="24765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232933"/>
              </p:ext>
            </p:extLst>
          </p:nvPr>
        </p:nvGraphicFramePr>
        <p:xfrm>
          <a:off x="605544" y="5602660"/>
          <a:ext cx="2578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5" name="公式" r:id="rId15" imgW="61864765" imgH="21326490" progId="">
                  <p:embed/>
                </p:oleObj>
              </mc:Choice>
              <mc:Fallback>
                <p:oleObj name="公式" r:id="rId15" imgW="61864765" imgH="21326490" progId="">
                  <p:embed/>
                  <p:pic>
                    <p:nvPicPr>
                      <p:cNvPr id="0" name="Picture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44" y="5602660"/>
                        <a:ext cx="25781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Group 87"/>
          <p:cNvGrpSpPr>
            <a:grpSpLocks/>
          </p:cNvGrpSpPr>
          <p:nvPr/>
        </p:nvGrpSpPr>
        <p:grpSpPr bwMode="auto">
          <a:xfrm>
            <a:off x="3491931" y="5085362"/>
            <a:ext cx="1656133" cy="609600"/>
            <a:chOff x="3744" y="3748"/>
            <a:chExt cx="1553" cy="601"/>
          </a:xfrm>
        </p:grpSpPr>
        <p:sp>
          <p:nvSpPr>
            <p:cNvPr id="62" name="Text Box 88"/>
            <p:cNvSpPr txBox="1">
              <a:spLocks noChangeArrowheads="1"/>
            </p:cNvSpPr>
            <p:nvPr/>
          </p:nvSpPr>
          <p:spPr bwMode="auto">
            <a:xfrm>
              <a:off x="3744" y="3826"/>
              <a:ext cx="8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itchFamily="18" charset="0"/>
                </a:rPr>
                <a:t>其中</a:t>
              </a:r>
            </a:p>
          </p:txBody>
        </p:sp>
        <p:graphicFrame>
          <p:nvGraphicFramePr>
            <p:cNvPr id="64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0023889"/>
                </p:ext>
              </p:extLst>
            </p:nvPr>
          </p:nvGraphicFramePr>
          <p:xfrm>
            <a:off x="4512" y="3748"/>
            <a:ext cx="785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6" name="公式" r:id="rId17" imgW="22850545" imgH="19802610" progId="">
                    <p:embed/>
                  </p:oleObj>
                </mc:Choice>
                <mc:Fallback>
                  <p:oleObj name="公式" r:id="rId17" imgW="22850545" imgH="19802610" progId="">
                    <p:embed/>
                    <p:pic>
                      <p:nvPicPr>
                        <p:cNvPr id="0" name="Picture 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748"/>
                          <a:ext cx="785" cy="6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"/>
    </p:custDataLst>
  </p:cSld>
  <p:clrMapOvr>
    <a:masterClrMapping/>
  </p:clrMapOvr>
  <p:transition advTm="573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5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"/>
          <p:cNvSpPr txBox="1">
            <a:spLocks noChangeArrowheads="1"/>
          </p:cNvSpPr>
          <p:nvPr/>
        </p:nvSpPr>
        <p:spPr bwMode="auto">
          <a:xfrm>
            <a:off x="251520" y="980728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强度条件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-540568" y="1599183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1. </a:t>
            </a:r>
            <a:r>
              <a:rPr kumimoji="1"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数学</a:t>
            </a:r>
            <a:r>
              <a:rPr kumimoji="1" lang="zh-CN" altLang="en-US" sz="24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表达式</a:t>
            </a:r>
            <a:endParaRPr kumimoji="1" lang="en-US" altLang="zh-CN" sz="24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54000" y="2416175"/>
            <a:ext cx="26781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kumimoji="1"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2.</a:t>
            </a:r>
            <a:r>
              <a:rPr kumimoji="1"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强度条件的应用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209800" y="2438400"/>
            <a:ext cx="31988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165267" y="3268660"/>
            <a:ext cx="1268699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kumimoji="1" lang="zh-CN" altLang="en-US" sz="23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强度校核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2079625" y="4457700"/>
            <a:ext cx="36480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036888" y="4484694"/>
            <a:ext cx="131921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kumimoji="1" lang="zh-CN" altLang="en-US" sz="23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设计截面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154238" y="5818188"/>
            <a:ext cx="5284787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809876" y="5884871"/>
            <a:ext cx="212248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kumimoji="1" lang="zh-CN" altLang="en-US" sz="23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确定许可载荷</a:t>
            </a:r>
          </a:p>
        </p:txBody>
      </p:sp>
      <p:grpSp>
        <p:nvGrpSpPr>
          <p:cNvPr id="19" name="Group 32"/>
          <p:cNvGrpSpPr>
            <a:grpSpLocks/>
          </p:cNvGrpSpPr>
          <p:nvPr/>
        </p:nvGrpSpPr>
        <p:grpSpPr bwMode="auto">
          <a:xfrm>
            <a:off x="1331913" y="3476625"/>
            <a:ext cx="1655762" cy="2592388"/>
            <a:chOff x="839" y="2054"/>
            <a:chExt cx="1043" cy="1633"/>
          </a:xfrm>
        </p:grpSpPr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839" y="2825"/>
              <a:ext cx="1041" cy="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839" y="2054"/>
              <a:ext cx="1043" cy="771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839" y="2825"/>
              <a:ext cx="907" cy="862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</p:grpSp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4284663" y="1412875"/>
          <a:ext cx="2362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2" name="公式" r:id="rId3" imgW="2352588" imgH="914490" progId="">
                  <p:embed/>
                </p:oleObj>
              </mc:Choice>
              <mc:Fallback>
                <p:oleObj name="公式" r:id="rId3" imgW="2352588" imgH="91449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412875"/>
                        <a:ext cx="23622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7"/>
          <p:cNvGraphicFramePr>
            <a:graphicFrameLocks noChangeAspect="1"/>
          </p:cNvGraphicFramePr>
          <p:nvPr/>
        </p:nvGraphicFramePr>
        <p:xfrm>
          <a:off x="5538788" y="3044825"/>
          <a:ext cx="1409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3" name="公式" r:id="rId5" imgW="1400099" imgH="914490" progId="">
                  <p:embed/>
                </p:oleObj>
              </mc:Choice>
              <mc:Fallback>
                <p:oleObj name="公式" r:id="rId5" imgW="1400099" imgH="91449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3044825"/>
                        <a:ext cx="1409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8"/>
          <p:cNvGraphicFramePr>
            <a:graphicFrameLocks noChangeAspect="1"/>
          </p:cNvGraphicFramePr>
          <p:nvPr/>
        </p:nvGraphicFramePr>
        <p:xfrm>
          <a:off x="5518150" y="4302125"/>
          <a:ext cx="1422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4" name="公式" r:id="rId7" imgW="1409824" imgH="895320" progId="">
                  <p:embed/>
                </p:oleObj>
              </mc:Choice>
              <mc:Fallback>
                <p:oleObj name="公式" r:id="rId7" imgW="1409824" imgH="89532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4302125"/>
                        <a:ext cx="1422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9"/>
          <p:cNvGraphicFramePr>
            <a:graphicFrameLocks noChangeAspect="1"/>
          </p:cNvGraphicFramePr>
          <p:nvPr/>
        </p:nvGraphicFramePr>
        <p:xfrm>
          <a:off x="5372100" y="5853113"/>
          <a:ext cx="179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5" name="公式" r:id="rId9" imgW="1781257" imgH="419040" progId="">
                  <p:embed/>
                </p:oleObj>
              </mc:Choice>
              <mc:Fallback>
                <p:oleObj name="公式" r:id="rId9" imgW="1781257" imgH="41904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5853113"/>
                        <a:ext cx="1790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468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7" grpId="0"/>
      <p:bldP spid="9" grpId="0"/>
      <p:bldP spid="13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1"/>
          <p:cNvSpPr>
            <a:spLocks noChangeArrowheads="1"/>
          </p:cNvSpPr>
          <p:nvPr/>
        </p:nvSpPr>
        <p:spPr bwMode="auto">
          <a:xfrm>
            <a:off x="142876" y="1287142"/>
            <a:ext cx="9001156" cy="106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01638" indent="-401638" algn="l" defTabSz="1069975" eaLnBrk="0" hangingPunct="0">
              <a:lnSpc>
                <a:spcPct val="150000"/>
              </a:lnSpc>
              <a:buClr>
                <a:srgbClr val="0000FF"/>
              </a:buClr>
              <a:buFont typeface="Symbol" pitchFamily="18" charset="2"/>
              <a:buNone/>
            </a:pPr>
            <a:r>
              <a:rPr lang="zh-CN" altLang="en-US" b="1" dirty="0" smtClean="0"/>
              <a:t>例</a:t>
            </a:r>
            <a:r>
              <a:rPr lang="zh-CN" altLang="en-US" b="1" dirty="0"/>
              <a:t>：在</a:t>
            </a:r>
            <a:r>
              <a:rPr lang="zh-CN" altLang="en-US" b="1" dirty="0">
                <a:solidFill>
                  <a:srgbClr val="FF0000"/>
                </a:solidFill>
              </a:rPr>
              <a:t>强度相同</a:t>
            </a:r>
            <a:r>
              <a:rPr lang="zh-CN" altLang="en-US" b="1" dirty="0"/>
              <a:t>的条件下，用 </a:t>
            </a:r>
            <a:r>
              <a:rPr lang="en-US" altLang="zh-CN" b="1" i="1" dirty="0"/>
              <a:t>d </a:t>
            </a:r>
            <a:r>
              <a:rPr lang="en-US" altLang="zh-CN" b="1" dirty="0"/>
              <a:t>/ </a:t>
            </a:r>
            <a:r>
              <a:rPr lang="en-US" altLang="zh-CN" b="1" i="1" dirty="0"/>
              <a:t>D </a:t>
            </a:r>
            <a:r>
              <a:rPr lang="en-US" altLang="zh-CN" b="1" dirty="0"/>
              <a:t>= 0.5 </a:t>
            </a:r>
            <a:r>
              <a:rPr lang="zh-CN" altLang="en-US" b="1" dirty="0"/>
              <a:t>的空心圆轴</a:t>
            </a:r>
            <a:r>
              <a:rPr lang="zh-CN" altLang="en-US" b="1" dirty="0" smtClean="0"/>
              <a:t>取代同样轴长和材料的实心</a:t>
            </a:r>
            <a:r>
              <a:rPr lang="zh-CN" altLang="en-US" b="1" dirty="0"/>
              <a:t>圆</a:t>
            </a:r>
            <a:r>
              <a:rPr lang="zh-CN" altLang="en-US" b="1" dirty="0" smtClean="0"/>
              <a:t>轴（直径为</a:t>
            </a:r>
            <a:r>
              <a:rPr lang="en-US" altLang="zh-CN" b="1" dirty="0" smtClean="0"/>
              <a:t>d</a:t>
            </a:r>
            <a:r>
              <a:rPr lang="en-US" altLang="zh-CN" b="1" baseline="-25000" dirty="0" smtClean="0"/>
              <a:t>1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 ，分析它们耗费材料的关系</a:t>
            </a:r>
            <a:r>
              <a:rPr lang="en-US" altLang="zh-CN" b="1" dirty="0" smtClean="0"/>
              <a:t>?</a:t>
            </a:r>
            <a:endParaRPr lang="en-US" altLang="zh-CN" b="1" dirty="0"/>
          </a:p>
        </p:txBody>
      </p:sp>
      <p:graphicFrame>
        <p:nvGraphicFramePr>
          <p:cNvPr id="4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213698"/>
              </p:ext>
            </p:extLst>
          </p:nvPr>
        </p:nvGraphicFramePr>
        <p:xfrm>
          <a:off x="3484289" y="2492896"/>
          <a:ext cx="2643206" cy="1153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" name="公式" r:id="rId6" imgW="1397000" imgH="609600" progId="">
                  <p:embed/>
                </p:oleObj>
              </mc:Choice>
              <mc:Fallback>
                <p:oleObj name="公式" r:id="rId6" imgW="1397000" imgH="609600" progId="">
                  <p:embed/>
                  <p:pic>
                    <p:nvPicPr>
                      <p:cNvPr id="0" name="Picture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289" y="2492896"/>
                        <a:ext cx="2643206" cy="11534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519227"/>
              </p:ext>
            </p:extLst>
          </p:nvPr>
        </p:nvGraphicFramePr>
        <p:xfrm>
          <a:off x="7556254" y="2797242"/>
          <a:ext cx="1214446" cy="741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" name="公式" r:id="rId8" imgW="685800" imgH="419100" progId="">
                  <p:embed/>
                </p:oleObj>
              </mc:Choice>
              <mc:Fallback>
                <p:oleObj name="公式" r:id="rId8" imgW="685800" imgH="419100" progId="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254" y="2797242"/>
                        <a:ext cx="1214446" cy="7418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6770436" y="2896161"/>
            <a:ext cx="1057275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6985" tIns="53492" rIns="106985" bIns="53492">
            <a:spAutoFit/>
          </a:bodyPr>
          <a:lstStyle/>
          <a:p>
            <a:pPr algn="l" defTabSz="1069975"/>
            <a:r>
              <a:rPr lang="zh-CN" altLang="en-US" b="1"/>
              <a:t>得</a:t>
            </a:r>
          </a:p>
        </p:txBody>
      </p:sp>
      <p:graphicFrame>
        <p:nvGraphicFramePr>
          <p:cNvPr id="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808689"/>
              </p:ext>
            </p:extLst>
          </p:nvPr>
        </p:nvGraphicFramePr>
        <p:xfrm>
          <a:off x="5984627" y="4301102"/>
          <a:ext cx="2143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" name="公式" r:id="rId10" imgW="114151" imgH="215619" progId="">
                  <p:embed/>
                </p:oleObj>
              </mc:Choice>
              <mc:Fallback>
                <p:oleObj name="公式" r:id="rId10" imgW="114151" imgH="215619" progId="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627" y="4301102"/>
                        <a:ext cx="214313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4594580" y="1573035"/>
            <a:ext cx="648072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en-US" altLang="zh-CN" b="1" dirty="0">
                <a:solidFill>
                  <a:srgbClr val="FF33CC"/>
                </a:solidFill>
              </a:rPr>
              <a:t>0.8</a:t>
            </a:r>
          </a:p>
        </p:txBody>
      </p:sp>
      <p:sp>
        <p:nvSpPr>
          <p:cNvPr id="9" name="Text Box 48"/>
          <p:cNvSpPr txBox="1">
            <a:spLocks noChangeArrowheads="1"/>
          </p:cNvSpPr>
          <p:nvPr/>
        </p:nvSpPr>
        <p:spPr bwMode="auto">
          <a:xfrm>
            <a:off x="431630" y="5451921"/>
            <a:ext cx="4068362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zh-CN" altLang="en-US" sz="2800" b="1" smtClean="0"/>
              <a:t>空心轴节省</a:t>
            </a:r>
            <a:r>
              <a:rPr lang="zh-CN" altLang="en-US" sz="2800" b="1"/>
              <a:t>材料</a:t>
            </a:r>
            <a:r>
              <a:rPr lang="zh-CN" altLang="en-US" b="1"/>
              <a:t> </a:t>
            </a:r>
            <a:r>
              <a:rPr lang="en-US" altLang="zh-CN" sz="2400" b="1"/>
              <a:t>21.7%</a:t>
            </a:r>
          </a:p>
        </p:txBody>
      </p:sp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4349780" y="5832529"/>
            <a:ext cx="3579806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zh-CN" altLang="en-US" b="1">
                <a:solidFill>
                  <a:srgbClr val="FF33CC"/>
                </a:solidFill>
              </a:rPr>
              <a:t>若将 </a:t>
            </a:r>
            <a:r>
              <a:rPr lang="en-US" altLang="zh-CN" b="1" i="1" smtClean="0"/>
              <a:t>d</a:t>
            </a:r>
            <a:r>
              <a:rPr lang="en-US" altLang="zh-CN" b="1" smtClean="0"/>
              <a:t>/</a:t>
            </a:r>
            <a:r>
              <a:rPr lang="en-US" altLang="zh-CN" b="1" i="1" smtClean="0"/>
              <a:t>D </a:t>
            </a:r>
            <a:r>
              <a:rPr lang="en-US" altLang="zh-CN" b="1"/>
              <a:t>= 0.5 </a:t>
            </a:r>
            <a:r>
              <a:rPr lang="zh-CN" altLang="en-US" b="1">
                <a:solidFill>
                  <a:srgbClr val="FF33CC"/>
                </a:solidFill>
              </a:rPr>
              <a:t>改为 </a:t>
            </a:r>
            <a:r>
              <a:rPr lang="en-US" altLang="zh-CN" b="1"/>
              <a:t>0.8</a:t>
            </a:r>
          </a:p>
        </p:txBody>
      </p:sp>
      <p:sp>
        <p:nvSpPr>
          <p:cNvPr id="12" name="Text Box 51"/>
          <p:cNvSpPr txBox="1">
            <a:spLocks noChangeArrowheads="1"/>
          </p:cNvSpPr>
          <p:nvPr/>
        </p:nvSpPr>
        <p:spPr bwMode="auto">
          <a:xfrm>
            <a:off x="7990582" y="3340462"/>
            <a:ext cx="901898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en-US" altLang="zh-CN" b="1">
                <a:solidFill>
                  <a:srgbClr val="FF33CC"/>
                </a:solidFill>
              </a:rPr>
              <a:t>1.192</a:t>
            </a:r>
          </a:p>
        </p:txBody>
      </p:sp>
      <p:sp>
        <p:nvSpPr>
          <p:cNvPr id="14" name="Text Box 53"/>
          <p:cNvSpPr txBox="1">
            <a:spLocks noChangeArrowheads="1"/>
          </p:cNvSpPr>
          <p:nvPr/>
        </p:nvSpPr>
        <p:spPr bwMode="auto">
          <a:xfrm>
            <a:off x="6622430" y="4980686"/>
            <a:ext cx="1809750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6985" tIns="53492" rIns="106985" bIns="53492">
            <a:spAutoFit/>
          </a:bodyPr>
          <a:lstStyle/>
          <a:p>
            <a:pPr algn="l" defTabSz="1069975"/>
            <a:r>
              <a:rPr lang="en-US" altLang="zh-CN" b="1">
                <a:solidFill>
                  <a:srgbClr val="FF33CC"/>
                </a:solidFill>
              </a:rPr>
              <a:t>0.512</a:t>
            </a: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2143108" y="5903967"/>
            <a:ext cx="1889125" cy="477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6985" tIns="53492" rIns="106985" bIns="53492">
            <a:spAutoFit/>
          </a:bodyPr>
          <a:lstStyle/>
          <a:p>
            <a:pPr algn="l" defTabSz="1069975"/>
            <a:r>
              <a:rPr lang="en-US" altLang="zh-CN" sz="2400" b="1">
                <a:solidFill>
                  <a:srgbClr val="FF33CC"/>
                </a:solidFill>
              </a:rPr>
              <a:t>48.8%</a:t>
            </a:r>
          </a:p>
        </p:txBody>
      </p: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5807028" y="3828275"/>
            <a:ext cx="887410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en-US" altLang="zh-CN" b="1">
                <a:solidFill>
                  <a:srgbClr val="FF33CC"/>
                </a:solidFill>
              </a:rPr>
              <a:t>0.8</a:t>
            </a:r>
          </a:p>
        </p:txBody>
      </p:sp>
      <p:sp>
        <p:nvSpPr>
          <p:cNvPr id="19" name="Text Box 47"/>
          <p:cNvSpPr txBox="1">
            <a:spLocks noChangeArrowheads="1"/>
          </p:cNvSpPr>
          <p:nvPr/>
        </p:nvSpPr>
        <p:spPr bwMode="auto">
          <a:xfrm>
            <a:off x="5341676" y="3324789"/>
            <a:ext cx="887410" cy="41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/>
            <a:r>
              <a:rPr lang="en-US" altLang="zh-CN" b="1">
                <a:solidFill>
                  <a:srgbClr val="FF33CC"/>
                </a:solidFill>
              </a:rPr>
              <a:t>0.8</a:t>
            </a:r>
          </a:p>
        </p:txBody>
      </p:sp>
      <p:graphicFrame>
        <p:nvGraphicFramePr>
          <p:cNvPr id="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685749"/>
              </p:ext>
            </p:extLst>
          </p:nvPr>
        </p:nvGraphicFramePr>
        <p:xfrm>
          <a:off x="3562102" y="4323327"/>
          <a:ext cx="20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" name="公式" r:id="rId12" imgW="114151" imgH="215619" progId="">
                  <p:embed/>
                </p:oleObj>
              </mc:Choice>
              <mc:Fallback>
                <p:oleObj name="公式" r:id="rId12" imgW="114151" imgH="215619" progId="">
                  <p:embed/>
                  <p:pic>
                    <p:nvPicPr>
                      <p:cNvPr id="0" name="Picture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102" y="4323327"/>
                        <a:ext cx="203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0" y="692696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二、圆轴扭转切应力应用</a:t>
            </a:r>
            <a:endParaRPr lang="zh-CN" altLang="en-US" sz="2800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753471"/>
              </p:ext>
            </p:extLst>
          </p:nvPr>
        </p:nvGraphicFramePr>
        <p:xfrm>
          <a:off x="3662196" y="3992402"/>
          <a:ext cx="3752322" cy="1368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" name="Equation" r:id="rId13" imgW="2159000" imgH="787400" progId="">
                  <p:embed/>
                </p:oleObj>
              </mc:Choice>
              <mc:Fallback>
                <p:oleObj name="Equation" r:id="rId13" imgW="2159000" imgH="787400" progId="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196" y="3992402"/>
                        <a:ext cx="3752322" cy="1368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19177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6" grpId="0" autoUpdateAnimBg="0"/>
      <p:bldP spid="8" grpId="0" autoUpdateAnimBg="0"/>
      <p:bldP spid="9" grpId="0"/>
      <p:bldP spid="10" grpId="0" autoUpdateAnimBg="0"/>
      <p:bldP spid="12" grpId="0" autoUpdateAnimBg="0"/>
      <p:bldP spid="14" grpId="0" autoUpdateAnimBg="0"/>
      <p:bldP spid="15" grpId="0" autoUpdateAnimBg="0"/>
      <p:bldP spid="18" grpId="0" autoUpdateAnimBg="0"/>
      <p:bldP spid="1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2"/>
          <p:cNvSpPr>
            <a:spLocks noChangeArrowheads="1"/>
          </p:cNvSpPr>
          <p:nvPr/>
        </p:nvSpPr>
        <p:spPr bwMode="auto">
          <a:xfrm>
            <a:off x="3851920" y="1340768"/>
            <a:ext cx="12241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defTabSz="1069975" eaLnBrk="0" hangingPunct="0"/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总结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auto">
          <a:xfrm>
            <a:off x="601978" y="2778648"/>
            <a:ext cx="1189047" cy="46230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smtClean="0">
                <a:latin typeface="Times New Roman" pitchFamily="18" charset="0"/>
                <a:ea typeface="黑体" pitchFamily="49" charset="-122"/>
              </a:rPr>
              <a:t>变     形</a:t>
            </a:r>
            <a:endParaRPr kumimoji="1" lang="zh-CN" altLang="en-US" sz="2400" b="1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6674208" y="2778648"/>
            <a:ext cx="1571636" cy="46230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smtClean="0">
                <a:latin typeface="Times New Roman" pitchFamily="18" charset="0"/>
                <a:ea typeface="黑体" pitchFamily="49" charset="-122"/>
              </a:rPr>
              <a:t>应力分布</a:t>
            </a:r>
            <a:endParaRPr kumimoji="1" lang="zh-CN" altLang="en-US" sz="2400" b="1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3388060" y="2778648"/>
            <a:ext cx="1714512" cy="46230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smtClean="0">
                <a:latin typeface="Times New Roman" pitchFamily="18" charset="0"/>
                <a:ea typeface="黑体" pitchFamily="49" charset="-122"/>
              </a:rPr>
              <a:t>应变分布</a:t>
            </a:r>
            <a:endParaRPr kumimoji="1" lang="zh-CN" altLang="en-US" sz="2400" b="1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6888522" y="4564598"/>
            <a:ext cx="1189047" cy="46230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dirty="0" smtClean="0">
                <a:latin typeface="Times New Roman" pitchFamily="18" charset="0"/>
                <a:ea typeface="黑体" pitchFamily="49" charset="-122"/>
              </a:rPr>
              <a:t>公式</a:t>
            </a:r>
            <a:endParaRPr kumimoji="1" lang="zh-CN" altLang="en-US" sz="2400" b="1" dirty="0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2006024" y="2992962"/>
            <a:ext cx="1143008" cy="1588"/>
          </a:xfrm>
          <a:prstGeom prst="straightConnector1">
            <a:avLst/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" name="矩形 7"/>
          <p:cNvSpPr/>
          <p:nvPr/>
        </p:nvSpPr>
        <p:spPr>
          <a:xfrm>
            <a:off x="1887862" y="2492896"/>
            <a:ext cx="1217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平面假定</a:t>
            </a:r>
            <a:endParaRPr kumimoji="1" lang="zh-CN" altLang="en-US" b="1">
              <a:solidFill>
                <a:srgbClr val="008000"/>
              </a:solidFill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5245448" y="2992962"/>
            <a:ext cx="1143008" cy="1588"/>
          </a:xfrm>
          <a:prstGeom prst="straightConnector1">
            <a:avLst/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5174010" y="2492896"/>
            <a:ext cx="1217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物性关系</a:t>
            </a:r>
          </a:p>
        </p:txBody>
      </p:sp>
      <p:sp>
        <p:nvSpPr>
          <p:cNvPr id="11" name="矩形 10"/>
          <p:cNvSpPr/>
          <p:nvPr/>
        </p:nvSpPr>
        <p:spPr>
          <a:xfrm>
            <a:off x="7531464" y="3707342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静力方程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 rot="5400000">
            <a:off x="6852803" y="3885143"/>
            <a:ext cx="1071570" cy="1588"/>
          </a:xfrm>
          <a:prstGeom prst="straightConnector1">
            <a:avLst/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1102044" y="3955335"/>
            <a:ext cx="5143536" cy="656846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变形协调</a:t>
            </a:r>
            <a:r>
              <a:rPr kumimoji="1" lang="en-US" altLang="zh-CN" sz="2800" b="1" dirty="0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dirty="0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物性关系</a:t>
            </a:r>
            <a:r>
              <a:rPr kumimoji="1" lang="en-US" altLang="zh-CN" sz="2800" b="1" dirty="0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+</a:t>
            </a:r>
            <a:r>
              <a:rPr kumimoji="1" lang="zh-CN" altLang="en-US" sz="2800" b="1" dirty="0" smtClean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平衡方程</a:t>
            </a:r>
            <a:endParaRPr kumimoji="1" lang="zh-CN" altLang="en-US" sz="2800" b="1" dirty="0">
              <a:solidFill>
                <a:srgbClr val="008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6804248" y="5621697"/>
            <a:ext cx="1189047" cy="831639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dirty="0" smtClean="0">
                <a:latin typeface="Times New Roman" pitchFamily="18" charset="0"/>
                <a:ea typeface="黑体" pitchFamily="49" charset="-122"/>
              </a:rPr>
              <a:t>强度条件</a:t>
            </a:r>
            <a:endParaRPr kumimoji="1" lang="zh-CN" altLang="en-US" sz="24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4139952" y="5733256"/>
            <a:ext cx="1189047" cy="46230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kumimoji="1" lang="zh-CN" altLang="en-US" sz="2400" b="1" dirty="0" smtClean="0">
                <a:latin typeface="Times New Roman" pitchFamily="18" charset="0"/>
                <a:ea typeface="黑体" pitchFamily="49" charset="-122"/>
              </a:rPr>
              <a:t>应用</a:t>
            </a:r>
            <a:endParaRPr kumimoji="1" lang="zh-CN" altLang="en-US" sz="2400" b="1" dirty="0">
              <a:latin typeface="Times New Roman" pitchFamily="18" charset="0"/>
              <a:ea typeface="黑体" pitchFamily="49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7380312" y="5085184"/>
            <a:ext cx="0" cy="432048"/>
          </a:xfrm>
          <a:prstGeom prst="straightConnector1">
            <a:avLst/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 flipH="1">
            <a:off x="5580112" y="5949280"/>
            <a:ext cx="936104" cy="0"/>
          </a:xfrm>
          <a:prstGeom prst="straightConnector1">
            <a:avLst/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/>
      <p:bldP spid="10" grpId="0"/>
      <p:bldP spid="11" grpId="0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071802" y="2786058"/>
            <a:ext cx="2214578" cy="1895483"/>
            <a:chOff x="2857488" y="2390773"/>
            <a:chExt cx="1813530" cy="1584335"/>
          </a:xfrm>
        </p:grpSpPr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2857488" y="2390773"/>
              <a:ext cx="481451" cy="68103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" name="Oval 18"/>
            <p:cNvSpPr>
              <a:spLocks noChangeArrowheads="1"/>
            </p:cNvSpPr>
            <p:nvPr/>
          </p:nvSpPr>
          <p:spPr bwMode="auto">
            <a:xfrm>
              <a:off x="3204233" y="2614621"/>
              <a:ext cx="1466785" cy="1360487"/>
            </a:xfrm>
            <a:prstGeom prst="ellipse">
              <a:avLst/>
            </a:prstGeom>
            <a:solidFill>
              <a:srgbClr val="FF00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19"/>
            <p:cNvSpPr>
              <a:spLocks noChangeArrowheads="1"/>
            </p:cNvSpPr>
            <p:nvPr/>
          </p:nvSpPr>
          <p:spPr bwMode="auto">
            <a:xfrm>
              <a:off x="3500430" y="2894015"/>
              <a:ext cx="902504" cy="820737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20"/>
            <p:cNvGrpSpPr>
              <a:grpSpLocks/>
            </p:cNvGrpSpPr>
            <p:nvPr/>
          </p:nvGrpSpPr>
          <p:grpSpPr bwMode="auto">
            <a:xfrm>
              <a:off x="3042023" y="2449521"/>
              <a:ext cx="764454" cy="693737"/>
              <a:chOff x="1380" y="10920"/>
              <a:chExt cx="764" cy="900"/>
            </a:xfrm>
          </p:grpSpPr>
          <p:sp>
            <p:nvSpPr>
              <p:cNvPr id="17" name="Freeform 21"/>
              <p:cNvSpPr>
                <a:spLocks/>
              </p:cNvSpPr>
              <p:nvPr/>
            </p:nvSpPr>
            <p:spPr bwMode="auto">
              <a:xfrm>
                <a:off x="1380" y="10920"/>
                <a:ext cx="764" cy="900"/>
              </a:xfrm>
              <a:custGeom>
                <a:avLst/>
                <a:gdLst/>
                <a:ahLst/>
                <a:cxnLst>
                  <a:cxn ang="0">
                    <a:pos x="764" y="0"/>
                  </a:cxn>
                  <a:cxn ang="0">
                    <a:pos x="510" y="90"/>
                  </a:cxn>
                  <a:cxn ang="0">
                    <a:pos x="270" y="285"/>
                  </a:cxn>
                  <a:cxn ang="0">
                    <a:pos x="46" y="675"/>
                  </a:cxn>
                  <a:cxn ang="0">
                    <a:pos x="0" y="900"/>
                  </a:cxn>
                </a:cxnLst>
                <a:rect l="0" t="0" r="r" b="b"/>
                <a:pathLst>
                  <a:path w="764" h="900">
                    <a:moveTo>
                      <a:pt x="764" y="0"/>
                    </a:moveTo>
                    <a:cubicBezTo>
                      <a:pt x="678" y="21"/>
                      <a:pt x="592" y="42"/>
                      <a:pt x="510" y="90"/>
                    </a:cubicBezTo>
                    <a:cubicBezTo>
                      <a:pt x="428" y="138"/>
                      <a:pt x="347" y="188"/>
                      <a:pt x="270" y="285"/>
                    </a:cubicBezTo>
                    <a:cubicBezTo>
                      <a:pt x="193" y="382"/>
                      <a:pt x="91" y="573"/>
                      <a:pt x="46" y="675"/>
                    </a:cubicBezTo>
                    <a:cubicBezTo>
                      <a:pt x="1" y="777"/>
                      <a:pt x="0" y="838"/>
                      <a:pt x="0" y="90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 flipH="1">
                <a:off x="1380" y="11700"/>
                <a:ext cx="16" cy="1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5" name="矩形 12"/>
          <p:cNvSpPr>
            <a:spLocks noChangeArrowheads="1"/>
          </p:cNvSpPr>
          <p:nvPr/>
        </p:nvSpPr>
        <p:spPr bwMode="auto">
          <a:xfrm>
            <a:off x="142844" y="642918"/>
            <a:ext cx="18573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defTabSz="1069975" eaLnBrk="0" hangingPunct="0"/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思考题：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42844" y="1190554"/>
            <a:ext cx="9001156" cy="158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lvl="0" algn="l" defTabSz="1069975">
              <a:lnSpc>
                <a:spcPct val="200000"/>
              </a:lnSpc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</a:rPr>
              <a:t>    大家少年时一定都用柳树枝做过口哨，请大家思考其中的力学原理？为什么柳皮从柳枝脱落？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0" name="Text Box 30"/>
          <p:cNvSpPr txBox="1">
            <a:spLocks noChangeArrowheads="1"/>
          </p:cNvSpPr>
          <p:nvPr/>
        </p:nvSpPr>
        <p:spPr bwMode="auto">
          <a:xfrm>
            <a:off x="0" y="-24"/>
            <a:ext cx="5715008" cy="53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6985" tIns="53492" rIns="106985" bIns="53492">
            <a:spAutoFit/>
          </a:bodyPr>
          <a:lstStyle/>
          <a:p>
            <a:pPr algn="l" defTabSz="1069975"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切应力应用</a:t>
            </a:r>
            <a:endParaRPr lang="zh-CN" altLang="en-US" sz="28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487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0" y="0"/>
            <a:ext cx="9144032" cy="6858000"/>
            <a:chOff x="0" y="0"/>
            <a:chExt cx="9144032" cy="6858000"/>
          </a:xfrm>
        </p:grpSpPr>
        <p:sp>
          <p:nvSpPr>
            <p:cNvPr id="5" name="矩形 4"/>
            <p:cNvSpPr/>
            <p:nvPr/>
          </p:nvSpPr>
          <p:spPr bwMode="auto"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1746" name="Text Box 8"/>
            <p:cNvSpPr txBox="1">
              <a:spLocks noChangeArrowheads="1"/>
            </p:cNvSpPr>
            <p:nvPr/>
          </p:nvSpPr>
          <p:spPr bwMode="auto">
            <a:xfrm>
              <a:off x="2206644" y="1500174"/>
              <a:ext cx="5080000" cy="1114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6985" tIns="53492" rIns="106985" bIns="53492">
              <a:spAutoFit/>
            </a:bodyPr>
            <a:lstStyle/>
            <a:p>
              <a:pPr defTabSz="1069975"/>
              <a:r>
                <a:rPr lang="zh-CN" altLang="en-US" sz="6600" b="1" smtClean="0"/>
                <a:t>谢谢</a:t>
              </a:r>
              <a:r>
                <a:rPr lang="en-US" altLang="zh-CN" sz="6600" b="1" smtClean="0"/>
                <a:t>!</a:t>
              </a:r>
              <a:endParaRPr lang="en-US" altLang="zh-CN" sz="6600" b="1"/>
            </a:p>
          </p:txBody>
        </p:sp>
        <p:pic>
          <p:nvPicPr>
            <p:cNvPr id="6" name="Picture 5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393" y="2714620"/>
              <a:ext cx="5305425" cy="344805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2357438" y="4643438"/>
              <a:ext cx="184150" cy="4000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buClrTx/>
                <a:buFontTx/>
                <a:buNone/>
              </a:pPr>
              <a:endParaRPr kumimoji="1" lang="zh-CN" altLang="en-US" b="1">
                <a:solidFill>
                  <a:srgbClr val="333399"/>
                </a:solidFill>
                <a:latin typeface="Times New Roman" pitchFamily="18" charset="0"/>
              </a:endParaRPr>
            </a:p>
          </p:txBody>
        </p:sp>
        <p:pic>
          <p:nvPicPr>
            <p:cNvPr id="10" name="Picture 1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072437" y="0"/>
              <a:ext cx="1071563" cy="10175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sp>
          <p:nvSpPr>
            <p:cNvPr id="11" name="Rectangle 1033"/>
            <p:cNvSpPr>
              <a:spLocks noChangeArrowheads="1"/>
            </p:cNvSpPr>
            <p:nvPr/>
          </p:nvSpPr>
          <p:spPr bwMode="auto">
            <a:xfrm>
              <a:off x="334963" y="3355975"/>
              <a:ext cx="18415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lang="zh-CN" altLang="zh-CN" sz="4000" b="1">
                <a:solidFill>
                  <a:srgbClr val="00FF00"/>
                </a:solidFill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0" y="6215082"/>
              <a:ext cx="1643063" cy="5191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defTabSz="1069975"/>
              <a:r>
                <a:rPr lang="zh-CN" altLang="en-US" sz="2800" b="1">
                  <a:latin typeface="华文行楷" pitchFamily="2" charset="-122"/>
                  <a:ea typeface="华文行楷" pitchFamily="2" charset="-122"/>
                </a:rPr>
                <a:t>材料力学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5341970" y="6248424"/>
              <a:ext cx="3802062" cy="538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6985" tIns="53492" rIns="106985" bIns="53492">
              <a:spAutoFit/>
            </a:bodyPr>
            <a:lstStyle/>
            <a:p>
              <a:pPr algn="l" defTabSz="1069975"/>
              <a:r>
                <a:rPr lang="en-US" altLang="zh-CN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Mechanics of </a:t>
              </a:r>
              <a:r>
                <a:rPr lang="en-US" altLang="zh-CN" sz="2800" b="1" smtClean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Materials</a:t>
              </a:r>
              <a:endParaRPr lang="en-US" altLang="zh-CN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cxnSp>
          <p:nvCxnSpPr>
            <p:cNvPr id="15" name="直接连接符 13"/>
            <p:cNvCxnSpPr>
              <a:cxnSpLocks noChangeShapeType="1"/>
            </p:cNvCxnSpPr>
            <p:nvPr/>
          </p:nvCxnSpPr>
          <p:spPr bwMode="auto">
            <a:xfrm>
              <a:off x="0" y="6215063"/>
              <a:ext cx="9144000" cy="1587"/>
            </a:xfrm>
            <a:prstGeom prst="line">
              <a:avLst/>
            </a:prstGeom>
            <a:noFill/>
            <a:ln w="28575" algn="ctr">
              <a:solidFill>
                <a:srgbClr val="00B0F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ransition advTm="4695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8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3|0.8|3.2|6.1|20.3|10.8|9.5|7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9|21.7|30.9|10.5|23.4|0.9|1.1|11.9|46.4|2.7|1.6|5.1|1.7|2.2|1.8|2.5|5.1|44.8|14.2|29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7|6.4|0.8|1.2|5.4|2.4|5|3.8|6.2|8.8|8.5|8.4|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1.6|1.7|0.8|0.8|1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1.6|3.8|0.7|12.7|3.3|1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9|23.4|4.5|2.7|8.3|4.8|18.8|35.6|16.5|1.1|0.5|0.3|0.5|0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7.1|27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457200" marR="0" indent="-4572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457200" marR="0" indent="-4572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18820</TotalTime>
  <Words>850</Words>
  <Application>Microsoft Office PowerPoint</Application>
  <PresentationFormat>全屏显示(4:3)</PresentationFormat>
  <Paragraphs>163</Paragraphs>
  <Slides>17</Slides>
  <Notes>13</Notes>
  <HiddenSlides>0</HiddenSlides>
  <MMClips>1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默认设计模板</vt:lpstr>
      <vt:lpstr>位图图像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      ——超磁致伸缩材料的非线性本构模型</dc:title>
  <dc:creator>sunle</dc:creator>
  <cp:lastModifiedBy>Administrator</cp:lastModifiedBy>
  <cp:revision>1460</cp:revision>
  <dcterms:created xsi:type="dcterms:W3CDTF">2006-07-26T02:25:48Z</dcterms:created>
  <dcterms:modified xsi:type="dcterms:W3CDTF">2016-12-22T16:25:00Z</dcterms:modified>
</cp:coreProperties>
</file>