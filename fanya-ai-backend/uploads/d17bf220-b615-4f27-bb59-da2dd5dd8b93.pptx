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0" r:id="rId3"/>
    <p:sldId id="331" r:id="rId5"/>
    <p:sldId id="332" r:id="rId6"/>
    <p:sldId id="333" r:id="rId7"/>
    <p:sldId id="334" r:id="rId8"/>
    <p:sldId id="335" r:id="rId9"/>
    <p:sldId id="336" r:id="rId1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66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7994"/>
  </p:normalViewPr>
  <p:slideViewPr>
    <p:cSldViewPr showGuides="1">
      <p:cViewPr varScale="1">
        <p:scale>
          <a:sx n="101" d="100"/>
          <a:sy n="101" d="100"/>
        </p:scale>
        <p:origin x="-264" y="-96"/>
      </p:cViewPr>
      <p:guideLst>
        <p:guide orient="horz" pos="2159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页眉占位符 716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dirty="0"/>
          </a:p>
        </p:txBody>
      </p:sp>
      <p:sp>
        <p:nvSpPr>
          <p:cNvPr id="7171" name="日期占位符 717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dirty="0"/>
          </a:p>
        </p:txBody>
      </p:sp>
      <p:sp>
        <p:nvSpPr>
          <p:cNvPr id="7172" name="幻灯片图像占位符 7171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文本占位符 717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174" name="页脚占位符 7173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endParaRPr lang="zh-CN" altLang="en-US" sz="1200" dirty="0"/>
          </a:p>
        </p:txBody>
      </p:sp>
      <p:sp>
        <p:nvSpPr>
          <p:cNvPr id="7175" name="灯片编号占位符 717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幻灯片图像占位符 159745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59747" name="文本占位符 159746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/>
            <a:endParaRPr dirty="0"/>
          </a:p>
        </p:txBody>
      </p:sp>
      <p:sp>
        <p:nvSpPr>
          <p:cNvPr id="2" name="灯片编号占位符 1"/>
          <p:cNvSpPr/>
          <p:nvPr>
            <p:ph type="sldNum" sz="quarter" idx="2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3" name="圆角矩形 5122"/>
          <p:cNvSpPr/>
          <p:nvPr userDrawn="1"/>
        </p:nvSpPr>
        <p:spPr>
          <a:xfrm>
            <a:off x="685800" y="2092325"/>
            <a:ext cx="7391400" cy="4073525"/>
          </a:xfrm>
          <a:prstGeom prst="roundRect">
            <a:avLst>
              <a:gd name="adj" fmla="val 16667"/>
            </a:avLst>
          </a:prstGeom>
          <a:noFill/>
          <a:ln w="5080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>
              <a:buClr>
                <a:schemeClr val="bg1"/>
              </a:buClr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5124" name="矩形 5123"/>
          <p:cNvSpPr/>
          <p:nvPr userDrawn="1"/>
        </p:nvSpPr>
        <p:spPr>
          <a:xfrm>
            <a:off x="228600" y="949325"/>
            <a:ext cx="7162800" cy="990600"/>
          </a:xfrm>
          <a:prstGeom prst="rect">
            <a:avLst/>
          </a:prstGeom>
          <a:solidFill>
            <a:schemeClr val="bg1"/>
          </a:solidFill>
          <a:ln w="5715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lvl="0" algn="ctr">
              <a:buClr>
                <a:schemeClr val="bg1"/>
              </a:buClr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5125" name="任意多边形 5124"/>
          <p:cNvSpPr/>
          <p:nvPr userDrawn="1"/>
        </p:nvSpPr>
        <p:spPr>
          <a:xfrm>
            <a:off x="0" y="736600"/>
            <a:ext cx="8991600" cy="1828800"/>
          </a:xfrm>
          <a:custGeom>
            <a:avLst/>
            <a:gdLst>
              <a:gd name="A1" fmla="val 0"/>
              <a:gd name="A3" fmla="val 0"/>
              <a:gd name="G0" fmla="+- 1000 0 0"/>
              <a:gd name="G1" fmla="+- 1000 0 0"/>
              <a:gd name="G2" fmla="+- G0 0 G1"/>
              <a:gd name="G3" fmla="*/ G1 1 2"/>
              <a:gd name="G4" fmla="+- G0 0 G3"/>
              <a:gd name="txL" fmla="*/ 0 w 4916"/>
              <a:gd name="txT" fmla="*/ 0 h 1000"/>
            </a:gdLst>
            <a:ahLst/>
            <a:cxnLst/>
            <a:rect l="txL" t="txT" r="G4" b="G1"/>
            <a:pathLst>
              <a:path w="4917" h="1000">
                <a:moveTo>
                  <a:pt x="0" y="0"/>
                </a:moveTo>
                <a:lnTo>
                  <a:pt x="4417" y="0"/>
                </a:lnTo>
                <a:arcTo wR="500" hR="500" stAng="-5400000" swAng="10800000"/>
                <a:lnTo>
                  <a:pt x="0" y="100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/>
          <a:p>
            <a:pPr lvl="0">
              <a:buClr>
                <a:schemeClr val="bg1"/>
              </a:buClr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5126" name="直接连接符 5125"/>
          <p:cNvSpPr/>
          <p:nvPr userDrawn="1"/>
        </p:nvSpPr>
        <p:spPr>
          <a:xfrm>
            <a:off x="0" y="2413000"/>
            <a:ext cx="8305800" cy="0"/>
          </a:xfrm>
          <a:prstGeom prst="line">
            <a:avLst/>
          </a:prstGeom>
          <a:ln w="508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7" name="标题 5126"/>
          <p:cNvSpPr>
            <a:spLocks noGrp="1"/>
          </p:cNvSpPr>
          <p:nvPr>
            <p:ph type="ctrTitle"/>
          </p:nvPr>
        </p:nvSpPr>
        <p:spPr>
          <a:xfrm>
            <a:off x="228600" y="757238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defRPr sz="460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28" name="副标题 5127"/>
          <p:cNvSpPr>
            <a:spLocks noGrp="1"/>
          </p:cNvSpPr>
          <p:nvPr>
            <p:ph type="subTitle" idx="1"/>
          </p:nvPr>
        </p:nvSpPr>
        <p:spPr>
          <a:xfrm>
            <a:off x="1066800" y="2708275"/>
            <a:ext cx="6629400" cy="33131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None/>
              <a:defRPr/>
            </a:lvl1pPr>
            <a:lvl2pPr marL="457200" lvl="1" indent="0" algn="ctr">
              <a:buNone/>
              <a:defRPr/>
            </a:lvl2pPr>
            <a:lvl3pPr marL="914400" lvl="2" indent="0" algn="ctr">
              <a:buNone/>
              <a:defRPr/>
            </a:lvl3pPr>
            <a:lvl4pPr marL="1371600" lvl="3" indent="0" algn="ctr">
              <a:buNone/>
              <a:defRPr/>
            </a:lvl4pPr>
            <a:lvl5pPr marL="1828800" lvl="4" indent="0" algn="ctr"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5129" name="日期占位符 5128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/>
            </a:lvl1pPr>
          </a:lstStyle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30" name="页脚占位符 5129"/>
          <p:cNvSpPr>
            <a:spLocks noGrp="1"/>
          </p:cNvSpPr>
          <p:nvPr>
            <p:ph type="ftr" sz="quarter" idx="3"/>
          </p:nvPr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/>
            </a:lvl1pPr>
          </a:lstStyle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31" name="灯片编号占位符 5130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3152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248" y="1600200"/>
            <a:ext cx="3883152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9616" y="228600"/>
            <a:ext cx="2084784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3496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07" name="矩形 4106"/>
          <p:cNvSpPr/>
          <p:nvPr userDrawn="1"/>
        </p:nvSpPr>
        <p:spPr>
          <a:xfrm>
            <a:off x="323850" y="476250"/>
            <a:ext cx="8569325" cy="6048375"/>
          </a:xfrm>
          <a:prstGeom prst="rect">
            <a:avLst/>
          </a:prstGeom>
          <a:noFill/>
          <a:ln w="508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00" name="任意多边形 4099"/>
          <p:cNvSpPr/>
          <p:nvPr/>
        </p:nvSpPr>
        <p:spPr>
          <a:xfrm>
            <a:off x="0" y="115888"/>
            <a:ext cx="8807450" cy="1050925"/>
          </a:xfrm>
          <a:custGeom>
            <a:avLst/>
            <a:gdLst>
              <a:gd name="A1" fmla="val 0"/>
              <a:gd name="A3" fmla="val 0"/>
              <a:gd name="G0" fmla="+- 1000 0 0"/>
              <a:gd name="G1" fmla="+- 1000 0 0"/>
              <a:gd name="G2" fmla="+- G0 0 G1"/>
              <a:gd name="G3" fmla="*/ G1 1 2"/>
              <a:gd name="G4" fmla="+- G0 0 G3"/>
              <a:gd name="txL" fmla="*/ 0 w 8380"/>
              <a:gd name="txT" fmla="*/ 0 h 1000"/>
            </a:gdLst>
            <a:ahLst/>
            <a:cxnLst/>
            <a:rect l="txL" t="txT" r="G4" b="G1"/>
            <a:pathLst>
              <a:path w="8381" h="1000">
                <a:moveTo>
                  <a:pt x="0" y="0"/>
                </a:moveTo>
                <a:lnTo>
                  <a:pt x="7881" y="0"/>
                </a:lnTo>
                <a:arcTo wR="500" hR="500" stAng="-5400000" swAng="10800000"/>
                <a:lnTo>
                  <a:pt x="0" y="100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/>
          <a:p>
            <a:pPr lvl="0">
              <a:buClr>
                <a:schemeClr val="bg1"/>
              </a:buClr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4101" name="直接连接符 4100"/>
          <p:cNvSpPr/>
          <p:nvPr/>
        </p:nvSpPr>
        <p:spPr>
          <a:xfrm>
            <a:off x="0" y="1052513"/>
            <a:ext cx="8335963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2" name="标题 410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823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103" name="文本占位符 410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4" name="日期占位符 4103"/>
          <p:cNvSpPr>
            <a:spLocks noGrp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2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05" name="页脚占位符 410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2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06" name="灯片编号占位符 410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2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标题 15872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r>
              <a:rPr lang="zh-CN" altLang="en-US" dirty="0"/>
              <a:t>§</a:t>
            </a:r>
            <a:r>
              <a:rPr lang="en-US" altLang="zh-CN" dirty="0"/>
              <a:t>2</a:t>
            </a:r>
            <a:r>
              <a:rPr lang="zh-CN" altLang="en-US" dirty="0"/>
              <a:t>－</a:t>
            </a:r>
            <a:r>
              <a:rPr lang="en-US" altLang="zh-CN" dirty="0"/>
              <a:t>1  </a:t>
            </a:r>
            <a:r>
              <a:rPr lang="zh-CN" altLang="en-US" dirty="0"/>
              <a:t>金属的晶体结构</a:t>
            </a:r>
            <a:endParaRPr lang="zh-CN" altLang="en-US"/>
          </a:p>
        </p:txBody>
      </p:sp>
      <p:sp>
        <p:nvSpPr>
          <p:cNvPr id="158723" name="文本占位符 158722"/>
          <p:cNvSpPr>
            <a:spLocks noGrp="1"/>
          </p:cNvSpPr>
          <p:nvPr>
            <p:ph type="body" idx="1"/>
          </p:nvPr>
        </p:nvSpPr>
        <p:spPr>
          <a:xfrm>
            <a:off x="971550" y="1628775"/>
            <a:ext cx="6048375" cy="3384550"/>
          </a:xfrm>
        </p:spPr>
        <p:txBody>
          <a:bodyPr/>
          <a:p>
            <a:pPr>
              <a:lnSpc>
                <a:spcPct val="130000"/>
              </a:lnSpc>
              <a:buNone/>
            </a:pPr>
            <a:r>
              <a:rPr lang="en-US" altLang="zh-CN" dirty="0"/>
              <a:t>1</a:t>
            </a:r>
            <a:r>
              <a:rPr lang="zh-CN" altLang="en-US" dirty="0"/>
              <a:t>、晶体与非晶体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r>
              <a:rPr lang="en-US" altLang="zh-CN" dirty="0"/>
              <a:t>2</a:t>
            </a:r>
            <a:r>
              <a:rPr lang="zh-CN" altLang="en-US" dirty="0"/>
              <a:t>、金属的晶格类型 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r>
              <a:rPr lang="en-US" altLang="zh-CN" dirty="0"/>
              <a:t>3</a:t>
            </a:r>
            <a:r>
              <a:rPr lang="zh-CN" altLang="en-US" dirty="0"/>
              <a:t>、单晶体与多晶体 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r>
              <a:rPr lang="en-US" altLang="zh-CN" dirty="0"/>
              <a:t>4</a:t>
            </a:r>
            <a:r>
              <a:rPr lang="zh-CN" altLang="en-US" dirty="0"/>
              <a:t>、晶体的缺陷 </a:t>
            </a:r>
            <a:endParaRPr lang="zh-CN" altLang="en-US" dirty="0"/>
          </a:p>
          <a:p>
            <a:pPr>
              <a:lnSpc>
                <a:spcPct val="130000"/>
              </a:lnSpc>
              <a:buNone/>
            </a:pPr>
            <a:endParaRPr lang="zh-CN" altLang="en-US"/>
          </a:p>
        </p:txBody>
      </p:sp>
    </p:spTree>
  </p:cSld>
  <p:clrMapOvr>
    <a:masterClrMapping/>
  </p:clrMapOvr>
  <p:transition advTm="686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5" name="文本占位符 187394"/>
          <p:cNvSpPr>
            <a:spLocks noGrp="1"/>
          </p:cNvSpPr>
          <p:nvPr>
            <p:ph type="body" idx="1"/>
          </p:nvPr>
        </p:nvSpPr>
        <p:spPr>
          <a:xfrm>
            <a:off x="392113" y="1196975"/>
            <a:ext cx="7924800" cy="820738"/>
          </a:xfrm>
        </p:spPr>
        <p:txBody>
          <a:bodyPr/>
          <a:p>
            <a:pPr>
              <a:buNone/>
            </a:pPr>
            <a:r>
              <a:rPr lang="en-US" altLang="zh-CN" dirty="0"/>
              <a:t>1</a:t>
            </a:r>
            <a:r>
              <a:rPr lang="zh-CN" altLang="en-US" dirty="0"/>
              <a:t>、晶体与非晶体</a:t>
            </a:r>
            <a:endParaRPr lang="zh-CN" altLang="en-US" dirty="0"/>
          </a:p>
        </p:txBody>
      </p:sp>
      <p:sp>
        <p:nvSpPr>
          <p:cNvPr id="187396" name="矩形 187395"/>
          <p:cNvSpPr/>
          <p:nvPr/>
        </p:nvSpPr>
        <p:spPr>
          <a:xfrm>
            <a:off x="5940425" y="5230813"/>
            <a:ext cx="1152525" cy="503237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非晶体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87398" name="矩形 187397"/>
          <p:cNvSpPr/>
          <p:nvPr/>
        </p:nvSpPr>
        <p:spPr>
          <a:xfrm>
            <a:off x="3636963" y="2854325"/>
            <a:ext cx="1152525" cy="503238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气态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87399" name="矩形 187398"/>
          <p:cNvSpPr/>
          <p:nvPr/>
        </p:nvSpPr>
        <p:spPr>
          <a:xfrm>
            <a:off x="3636963" y="3790950"/>
            <a:ext cx="1152525" cy="503238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液态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87400" name="矩形 187399"/>
          <p:cNvSpPr/>
          <p:nvPr/>
        </p:nvSpPr>
        <p:spPr>
          <a:xfrm>
            <a:off x="3636963" y="4725988"/>
            <a:ext cx="1152525" cy="503237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固态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87401" name="矩形 187400"/>
          <p:cNvSpPr/>
          <p:nvPr/>
        </p:nvSpPr>
        <p:spPr>
          <a:xfrm>
            <a:off x="5940425" y="4294188"/>
            <a:ext cx="1152525" cy="503237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晶体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sp>
        <p:nvSpPr>
          <p:cNvPr id="187402" name="矩形 187401"/>
          <p:cNvSpPr/>
          <p:nvPr/>
        </p:nvSpPr>
        <p:spPr>
          <a:xfrm>
            <a:off x="1331913" y="3790950"/>
            <a:ext cx="1152525" cy="503238"/>
          </a:xfrm>
          <a:prstGeom prst="rect">
            <a:avLst/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zh-CN" altLang="en-US" sz="28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物质</a:t>
            </a:r>
            <a:endParaRPr lang="zh-CN" altLang="en-US" sz="28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</p:txBody>
      </p:sp>
      <p:cxnSp>
        <p:nvCxnSpPr>
          <p:cNvPr id="187403" name="直接箭头连接符 187402"/>
          <p:cNvCxnSpPr>
            <a:stCxn id="187402" idx="3"/>
            <a:endCxn id="187399" idx="1"/>
          </p:cNvCxnSpPr>
          <p:nvPr/>
        </p:nvCxnSpPr>
        <p:spPr>
          <a:xfrm>
            <a:off x="2484438" y="4043363"/>
            <a:ext cx="1152525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7405" name="肘形连接符 187404"/>
          <p:cNvCxnSpPr>
            <a:stCxn id="187402" idx="3"/>
            <a:endCxn id="187398" idx="1"/>
          </p:cNvCxnSpPr>
          <p:nvPr/>
        </p:nvCxnSpPr>
        <p:spPr>
          <a:xfrm flipV="1">
            <a:off x="2484438" y="3106738"/>
            <a:ext cx="1152525" cy="936625"/>
          </a:xfrm>
          <a:prstGeom prst="bentConnector3">
            <a:avLst>
              <a:gd name="adj1" fmla="val 50000"/>
            </a:avLst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187406" name="肘形连接符 187405"/>
          <p:cNvCxnSpPr>
            <a:stCxn id="187402" idx="3"/>
            <a:endCxn id="187400" idx="1"/>
          </p:cNvCxnSpPr>
          <p:nvPr/>
        </p:nvCxnSpPr>
        <p:spPr>
          <a:xfrm>
            <a:off x="2484438" y="4043363"/>
            <a:ext cx="1152525" cy="935037"/>
          </a:xfrm>
          <a:prstGeom prst="bentConnector3">
            <a:avLst>
              <a:gd name="adj1" fmla="val 50000"/>
            </a:avLst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187407" name="肘形连接符 187406"/>
          <p:cNvCxnSpPr>
            <a:stCxn id="187400" idx="3"/>
            <a:endCxn id="187396" idx="1"/>
          </p:cNvCxnSpPr>
          <p:nvPr/>
        </p:nvCxnSpPr>
        <p:spPr>
          <a:xfrm>
            <a:off x="4789488" y="4978400"/>
            <a:ext cx="1150937" cy="504825"/>
          </a:xfrm>
          <a:prstGeom prst="bentConnector3">
            <a:avLst>
              <a:gd name="adj1" fmla="val 49931"/>
            </a:avLst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187408" name="肘形连接符 187407"/>
          <p:cNvCxnSpPr>
            <a:stCxn id="187400" idx="3"/>
            <a:endCxn id="187401" idx="1"/>
          </p:cNvCxnSpPr>
          <p:nvPr/>
        </p:nvCxnSpPr>
        <p:spPr>
          <a:xfrm flipV="1">
            <a:off x="4789488" y="4546600"/>
            <a:ext cx="1150937" cy="431800"/>
          </a:xfrm>
          <a:prstGeom prst="bentConnector3">
            <a:avLst>
              <a:gd name="adj1" fmla="val 49931"/>
            </a:avLst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187409" name="文本框 187408"/>
          <p:cNvSpPr txBox="1"/>
          <p:nvPr/>
        </p:nvSpPr>
        <p:spPr>
          <a:xfrm>
            <a:off x="3203575" y="2133600"/>
            <a:ext cx="1439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存在状态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410" name="文本框 187409"/>
          <p:cNvSpPr txBox="1"/>
          <p:nvPr/>
        </p:nvSpPr>
        <p:spPr>
          <a:xfrm>
            <a:off x="5580063" y="3619500"/>
            <a:ext cx="14398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结构特点</a:t>
            </a:r>
            <a:endParaRPr lang="zh-CN" altLang="en-US" dirty="0">
              <a:solidFill>
                <a:srgbClr val="0066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 advTm="20998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9" name="文本占位符 188418"/>
          <p:cNvSpPr>
            <a:spLocks noGrp="1"/>
          </p:cNvSpPr>
          <p:nvPr>
            <p:ph type="body" sz="half" idx="1"/>
          </p:nvPr>
        </p:nvSpPr>
        <p:spPr>
          <a:xfrm>
            <a:off x="2486025" y="1196975"/>
            <a:ext cx="3886200" cy="604838"/>
          </a:xfrm>
        </p:spPr>
        <p:txBody>
          <a:bodyPr/>
          <a:p>
            <a:pPr algn="ctr">
              <a:buNone/>
            </a:pPr>
            <a:r>
              <a:rPr lang="zh-CN" altLang="en-US" sz="2800" dirty="0"/>
              <a:t>晶体和非晶体的对比</a:t>
            </a:r>
            <a:endParaRPr lang="zh-CN" altLang="en-US" sz="2800" dirty="0"/>
          </a:p>
        </p:txBody>
      </p:sp>
      <p:graphicFrame>
        <p:nvGraphicFramePr>
          <p:cNvPr id="188632" name="内容占位符 188631"/>
          <p:cNvGraphicFramePr/>
          <p:nvPr>
            <p:ph sz="half" idx="2"/>
          </p:nvPr>
        </p:nvGraphicFramePr>
        <p:xfrm>
          <a:off x="900113" y="1844675"/>
          <a:ext cx="7486650" cy="4178300"/>
        </p:xfrm>
        <a:graphic>
          <a:graphicData uri="http://schemas.openxmlformats.org/drawingml/2006/table">
            <a:tbl>
              <a:tblPr/>
              <a:tblGrid>
                <a:gridCol w="1079500"/>
                <a:gridCol w="3203575"/>
                <a:gridCol w="3203575"/>
              </a:tblGrid>
              <a:tr h="57626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项目</a:t>
                      </a:r>
                      <a:endParaRPr lang="zh-CN" altLang="en-US" sz="2400" dirty="0"/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/>
                        <a:t>晶体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/>
                        <a:t>非晶体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073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定义</a:t>
                      </a:r>
                      <a:endParaRPr lang="zh-CN" altLang="en-US" sz="2400" dirty="0"/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原子呈有序、有规则排列的物质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原子呈无序、无规则堆积物质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9543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性能特点</a:t>
                      </a:r>
                      <a:endParaRPr lang="zh-CN" altLang="en-US" sz="2400" dirty="0"/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具有规则的几何形状 </a:t>
                      </a:r>
                      <a:endParaRPr lang="zh-CN" altLang="en-US" sz="240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有一定的熔点，性能呈各向异性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没有规则的几何形状 </a:t>
                      </a:r>
                      <a:endParaRPr lang="zh-CN" altLang="en-US" sz="2400" dirty="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没有固定的熔点，性能呈各向同性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8586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dirty="0"/>
                        <a:t>典型物质</a:t>
                      </a:r>
                      <a:endParaRPr lang="zh-CN" altLang="en-US" sz="2400" dirty="0"/>
                    </a:p>
                  </a:txBody>
                  <a:tcPr anchor="ctr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石英、云母、明矾、食盐、硫酸铜、糖、味精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6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2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4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 dirty="0"/>
                        <a:t>玻璃、蜂蜡、松香、沥青、橡胶 </a:t>
                      </a:r>
                      <a:endParaRPr lang="zh-CN" altLang="en-US" sz="2400" dirty="0"/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ransition advTm="4004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6" descr="u=481817365,579709024&amp;fm=21&amp;gp=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2085" y="1797685"/>
            <a:ext cx="3573145" cy="2449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0467" name="文本占位符 190466"/>
          <p:cNvSpPr>
            <a:spLocks noGrp="1"/>
          </p:cNvSpPr>
          <p:nvPr>
            <p:ph type="body" idx="1"/>
          </p:nvPr>
        </p:nvSpPr>
        <p:spPr>
          <a:xfrm>
            <a:off x="392113" y="1196975"/>
            <a:ext cx="7924800" cy="749300"/>
          </a:xfrm>
        </p:spPr>
        <p:txBody>
          <a:bodyPr/>
          <a:p>
            <a:pPr>
              <a:buNone/>
            </a:pPr>
            <a:r>
              <a:rPr lang="en-US" altLang="zh-CN" dirty="0"/>
              <a:t>2</a:t>
            </a:r>
            <a:r>
              <a:rPr lang="zh-CN" altLang="en-US" dirty="0"/>
              <a:t>、金属的晶格类型</a:t>
            </a:r>
            <a:endParaRPr lang="zh-CN" altLang="en-US" dirty="0"/>
          </a:p>
        </p:txBody>
      </p:sp>
      <p:sp>
        <p:nvSpPr>
          <p:cNvPr id="190468" name="文本框 190467"/>
          <p:cNvSpPr txBox="1"/>
          <p:nvPr/>
        </p:nvSpPr>
        <p:spPr>
          <a:xfrm>
            <a:off x="611505" y="2060575"/>
            <a:ext cx="4860290" cy="38461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</a:rPr>
              <a:t>晶格类型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金属中原子排列的规律。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        晶格</a:t>
            </a:r>
            <a:r>
              <a:rPr lang="en-US" altLang="zh-CN" b="1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为了清楚地表示晶体中原子排列的规律，将原子简化为一个质点，再用假想的线将它们连接起来，形成一个能反映原子排列规律的空间格架。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        晶胞</a:t>
            </a:r>
            <a:r>
              <a:rPr lang="en-US" altLang="zh-CN" b="1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</a:rPr>
              <a:t>晶格中能够完整地反映晶体晶格特征的最小几何单元。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970780" y="4422775"/>
            <a:ext cx="45008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/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晶格和晶胞示意图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34289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1492" name="内容占位符 191491"/>
          <p:cNvGraphicFramePr/>
          <p:nvPr>
            <p:ph sz="quarter" idx="2"/>
          </p:nvPr>
        </p:nvGraphicFramePr>
        <p:xfrm>
          <a:off x="4902200" y="1565910"/>
          <a:ext cx="3085465" cy="170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4687550" imgH="7239000" progId="Photoshop.Image.8">
                  <p:embed/>
                </p:oleObj>
              </mc:Choice>
              <mc:Fallback>
                <p:oleObj name="" r:id="rId1" imgW="14687550" imgH="7239000" progId="Photoshop.Imag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02200" y="1565910"/>
                        <a:ext cx="3085465" cy="170116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5" name="内容占位符 191494"/>
          <p:cNvGraphicFramePr/>
          <p:nvPr>
            <p:ph sz="quarter" idx="3"/>
          </p:nvPr>
        </p:nvGraphicFramePr>
        <p:xfrm>
          <a:off x="975678" y="4005580"/>
          <a:ext cx="3457575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4687550" imgH="7239000" progId="Photoshop.Image.8">
                  <p:embed/>
                </p:oleObj>
              </mc:Choice>
              <mc:Fallback>
                <p:oleObj name="" r:id="rId3" imgW="14687550" imgH="7239000" progId="Photoshop.Imag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5678" y="4005580"/>
                        <a:ext cx="3457575" cy="1701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8" name="对象 191497"/>
          <p:cNvGraphicFramePr/>
          <p:nvPr/>
        </p:nvGraphicFramePr>
        <p:xfrm>
          <a:off x="4902200" y="3979545"/>
          <a:ext cx="2940050" cy="1727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14687550" imgH="8420100" progId="Photoshop.Image.8">
                  <p:embed/>
                </p:oleObj>
              </mc:Choice>
              <mc:Fallback>
                <p:oleObj name="" r:id="rId5" imgW="14687550" imgH="8420100" progId="Photoshop.Imag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02200" y="3979545"/>
                        <a:ext cx="2940050" cy="17278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9" name="文本框 191498"/>
          <p:cNvSpPr txBox="1"/>
          <p:nvPr/>
        </p:nvSpPr>
        <p:spPr>
          <a:xfrm>
            <a:off x="5394325" y="3266758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体心立方晶格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1500" name="文本框 191499"/>
          <p:cNvSpPr txBox="1"/>
          <p:nvPr/>
        </p:nvSpPr>
        <p:spPr>
          <a:xfrm>
            <a:off x="1480820" y="5707063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面心立方晶格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1501" name="文本框 191500"/>
          <p:cNvSpPr txBox="1"/>
          <p:nvPr/>
        </p:nvSpPr>
        <p:spPr>
          <a:xfrm>
            <a:off x="5394008" y="5707380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密排六方晶格 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5625" y="2683510"/>
            <a:ext cx="3877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常见的金属晶格类型</a:t>
            </a:r>
            <a:endParaRPr lang="zh-CN" altLang="en-US" sz="3200"/>
          </a:p>
        </p:txBody>
      </p:sp>
    </p:spTree>
  </p:cSld>
  <p:clrMapOvr>
    <a:masterClrMapping/>
  </p:clrMapOvr>
  <p:transition advTm="66067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3" name="文本占位符 194562"/>
          <p:cNvSpPr>
            <a:spLocks noGrp="1"/>
          </p:cNvSpPr>
          <p:nvPr>
            <p:ph type="body" idx="1"/>
          </p:nvPr>
        </p:nvSpPr>
        <p:spPr>
          <a:xfrm>
            <a:off x="392113" y="1196975"/>
            <a:ext cx="7924800" cy="820738"/>
          </a:xfrm>
        </p:spPr>
        <p:txBody>
          <a:bodyPr/>
          <a:p>
            <a:pPr>
              <a:buNone/>
            </a:pPr>
            <a:r>
              <a:rPr lang="en-US" altLang="zh-CN" dirty="0"/>
              <a:t>3</a:t>
            </a:r>
            <a:r>
              <a:rPr lang="zh-CN" altLang="en-US" dirty="0"/>
              <a:t>、单晶体与多晶体</a:t>
            </a:r>
            <a:endParaRPr lang="zh-CN" altLang="en-US" dirty="0"/>
          </a:p>
        </p:txBody>
      </p:sp>
      <p:sp>
        <p:nvSpPr>
          <p:cNvPr id="194567" name="文本框 194566"/>
          <p:cNvSpPr txBox="1"/>
          <p:nvPr/>
        </p:nvSpPr>
        <p:spPr>
          <a:xfrm>
            <a:off x="611188" y="2133600"/>
            <a:ext cx="7416800" cy="2030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单晶体：只由一个晶粒组成的晶体称为单晶体。  性能呈各向异性，如单晶硅、单晶锗。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多晶体：由多个晶粒组成的晶体，性能呈各项同性，普通金属材料都是多晶体。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 descr="6N}CUAPCKT@C@3_38T_EOJ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615" y="4273550"/>
            <a:ext cx="1043305" cy="1200150"/>
          </a:xfrm>
          <a:prstGeom prst="rect">
            <a:avLst/>
          </a:prstGeom>
        </p:spPr>
      </p:pic>
      <p:pic>
        <p:nvPicPr>
          <p:cNvPr id="5" name="图片 4" descr="N2EO4Y%4T9{SAHTQ6TR_3Y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330" y="4274185"/>
            <a:ext cx="1218565" cy="12185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58975" y="5747385"/>
            <a:ext cx="1532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单晶体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937125" y="5694680"/>
            <a:ext cx="1506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多晶体</a:t>
            </a:r>
            <a:endParaRPr lang="zh-CN" altLang="en-US"/>
          </a:p>
        </p:txBody>
      </p:sp>
    </p:spTree>
  </p:cSld>
  <p:clrMapOvr>
    <a:masterClrMapping/>
  </p:clrMapOvr>
  <p:transition advTm="2574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7" name="文本占位符 195586"/>
          <p:cNvSpPr>
            <a:spLocks noGrp="1"/>
          </p:cNvSpPr>
          <p:nvPr>
            <p:ph type="body" idx="1"/>
          </p:nvPr>
        </p:nvSpPr>
        <p:spPr>
          <a:xfrm>
            <a:off x="392113" y="1196975"/>
            <a:ext cx="7924800" cy="820738"/>
          </a:xfrm>
        </p:spPr>
        <p:txBody>
          <a:bodyPr/>
          <a:p>
            <a:pPr>
              <a:buNone/>
            </a:pPr>
            <a:r>
              <a:rPr lang="en-US" altLang="zh-CN" dirty="0"/>
              <a:t>4</a:t>
            </a:r>
            <a:r>
              <a:rPr lang="zh-CN" altLang="en-US" dirty="0"/>
              <a:t>、晶体的缺陷</a:t>
            </a:r>
            <a:endParaRPr lang="zh-CN" altLang="en-US" dirty="0"/>
          </a:p>
        </p:txBody>
      </p:sp>
      <p:sp>
        <p:nvSpPr>
          <p:cNvPr id="195591" name="文本框 195590"/>
          <p:cNvSpPr txBox="1"/>
          <p:nvPr/>
        </p:nvSpPr>
        <p:spPr>
          <a:xfrm>
            <a:off x="611188" y="1916113"/>
            <a:ext cx="7705725" cy="2330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晶体缺陷</a:t>
            </a:r>
            <a:r>
              <a:rPr lang="en-US" altLang="zh-CN" sz="2800" b="1">
                <a:latin typeface="Times New Roman" panose="02020603050405020304" pitchFamily="18" charset="0"/>
              </a:rPr>
              <a:t>——</a:t>
            </a:r>
            <a:r>
              <a:rPr lang="zh-CN" altLang="en-US" sz="2800" dirty="0">
                <a:latin typeface="Times New Roman" panose="02020603050405020304" pitchFamily="18" charset="0"/>
              </a:rPr>
              <a:t>由于各种原因，实际晶体中原子的规律排列受到干扰和破坏，使晶体中的某些原子偏离正常位置，我们把这种晶体中原子紊乱排列的现象称为晶体缺陷。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2430" y="409575"/>
            <a:ext cx="53663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solidFill>
                  <a:schemeClr val="bg1"/>
                </a:solidFill>
                <a:sym typeface="+mn-ea"/>
              </a:rPr>
              <a:t>§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－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1  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金属的晶体结构</a:t>
            </a:r>
            <a:endParaRPr lang="zh-CN" altLang="en-US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3" name="图片 2" descr="4PL2OX52N_{4BJ(}@D{2H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4575175"/>
            <a:ext cx="1535430" cy="1304925"/>
          </a:xfrm>
          <a:prstGeom prst="rect">
            <a:avLst/>
          </a:prstGeom>
        </p:spPr>
      </p:pic>
      <p:pic>
        <p:nvPicPr>
          <p:cNvPr id="4" name="图片 3" descr="`6%7${EH03@}OV$I{@4JE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335" y="4730115"/>
            <a:ext cx="1610360" cy="1083310"/>
          </a:xfrm>
          <a:prstGeom prst="rect">
            <a:avLst/>
          </a:prstGeom>
        </p:spPr>
      </p:pic>
      <p:pic>
        <p:nvPicPr>
          <p:cNvPr id="5" name="图片 4" descr="LHP(YSIZL6))@~4SQDE$Y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185" y="4764405"/>
            <a:ext cx="1548765" cy="963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34770" y="5935980"/>
            <a:ext cx="9404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点缺陷</a:t>
            </a:r>
            <a:endParaRPr lang="zh-CN" altLang="en-US" sz="1600"/>
          </a:p>
        </p:txBody>
      </p:sp>
      <p:sp>
        <p:nvSpPr>
          <p:cNvPr id="7" name="文本框 6"/>
          <p:cNvSpPr txBox="1"/>
          <p:nvPr/>
        </p:nvSpPr>
        <p:spPr>
          <a:xfrm>
            <a:off x="3940810" y="5935980"/>
            <a:ext cx="1046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线缺陷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6242685" y="5975350"/>
            <a:ext cx="9607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面缺陷</a:t>
            </a:r>
            <a:endParaRPr lang="zh-CN" altLang="en-US" sz="1600"/>
          </a:p>
        </p:txBody>
      </p:sp>
    </p:spTree>
  </p:cSld>
  <p:clrMapOvr>
    <a:masterClrMapping/>
  </p:clrMapOvr>
  <p:transition advTm="64272"/>
</p:sld>
</file>

<file path=ppt/theme/theme1.xml><?xml version="1.0" encoding="utf-8"?>
<a:theme xmlns:a="http://schemas.openxmlformats.org/drawingml/2006/main" name="Radial">
  <a:themeElements>
    <a:clrScheme name="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989E5"/>
      </a:accent6>
      <a:hlink>
        <a:srgbClr val="996666"/>
      </a:hlink>
      <a:folHlink>
        <a:srgbClr val="6666CC"/>
      </a:folHlink>
    </a:clrScheme>
    <a:fontScheme name="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989E5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789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CC6600"/>
        </a:lt2>
        <a:accent1>
          <a:srgbClr val="FF6600"/>
        </a:accent1>
        <a:accent2>
          <a:srgbClr val="33CCCC"/>
        </a:accent2>
        <a:accent3>
          <a:srgbClr val="C1AAAA"/>
        </a:accent3>
        <a:accent4>
          <a:srgbClr val="DCDCDC"/>
        </a:accent4>
        <a:accent5>
          <a:srgbClr val="FFB9AA"/>
        </a:accent5>
        <a:accent6>
          <a:srgbClr val="2DB7B7"/>
        </a:accent6>
        <a:hlink>
          <a:srgbClr val="99FF33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431A01"/>
        </a:lt1>
        <a:dk2>
          <a:srgbClr val="FFFFFF"/>
        </a:dk2>
        <a:lt2>
          <a:srgbClr val="993300"/>
        </a:lt2>
        <a:accent1>
          <a:srgbClr val="FFCC00"/>
        </a:accent1>
        <a:accent2>
          <a:srgbClr val="FF9966"/>
        </a:accent2>
        <a:accent3>
          <a:srgbClr val="B0AAAA"/>
        </a:accent3>
        <a:accent4>
          <a:srgbClr val="DCDCDC"/>
        </a:accent4>
        <a:accent5>
          <a:srgbClr val="FFE2AA"/>
        </a:accent5>
        <a:accent6>
          <a:srgbClr val="E5895B"/>
        </a:accent6>
        <a:hlink>
          <a:srgbClr val="FF6600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60000"/>
        </a:lt1>
        <a:dk2>
          <a:srgbClr val="FFFFFF"/>
        </a:dk2>
        <a:lt2>
          <a:srgbClr val="75878B"/>
        </a:lt2>
        <a:accent1>
          <a:srgbClr val="0099CC"/>
        </a:accent1>
        <a:accent2>
          <a:srgbClr val="FF3300"/>
        </a:accent2>
        <a:accent3>
          <a:srgbClr val="ABAAAA"/>
        </a:accent3>
        <a:accent4>
          <a:srgbClr val="DCDCDC"/>
        </a:accent4>
        <a:accent5>
          <a:srgbClr val="AACAE2"/>
        </a:accent5>
        <a:accent6>
          <a:srgbClr val="E52D00"/>
        </a:accent6>
        <a:hlink>
          <a:srgbClr val="FFCC00"/>
        </a:hlink>
        <a:folHlink>
          <a:srgbClr val="CC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666699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CDCDC"/>
        </a:accent4>
        <a:accent5>
          <a:srgbClr val="CAB9FF"/>
        </a:accent5>
        <a:accent6>
          <a:srgbClr val="89B7E5"/>
        </a:accent6>
        <a:hlink>
          <a:srgbClr val="FFFFCC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A2A40"/>
        </a:lt1>
        <a:dk2>
          <a:srgbClr val="FFFFFF"/>
        </a:dk2>
        <a:lt2>
          <a:srgbClr val="666699"/>
        </a:lt2>
        <a:accent1>
          <a:srgbClr val="006699"/>
        </a:accent1>
        <a:accent2>
          <a:srgbClr val="CC9900"/>
        </a:accent2>
        <a:accent3>
          <a:srgbClr val="ACACB0"/>
        </a:accent3>
        <a:accent4>
          <a:srgbClr val="DCDCDC"/>
        </a:accent4>
        <a:accent5>
          <a:srgbClr val="AAB9CA"/>
        </a:accent5>
        <a:accent6>
          <a:srgbClr val="B78900"/>
        </a:accent6>
        <a:hlink>
          <a:srgbClr val="CC6600"/>
        </a:hlink>
        <a:folHlink>
          <a:srgbClr val="6C948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2B335B"/>
        </a:lt1>
        <a:dk2>
          <a:srgbClr val="FFFFFF"/>
        </a:dk2>
        <a:lt2>
          <a:srgbClr val="BECBD8"/>
        </a:lt2>
        <a:accent1>
          <a:srgbClr val="0099CC"/>
        </a:accent1>
        <a:accent2>
          <a:srgbClr val="B5DBE3"/>
        </a:accent2>
        <a:accent3>
          <a:srgbClr val="ACADB6"/>
        </a:accent3>
        <a:accent4>
          <a:srgbClr val="DCDCDC"/>
        </a:accent4>
        <a:accent5>
          <a:srgbClr val="AACAE2"/>
        </a:accent5>
        <a:accent6>
          <a:srgbClr val="A2C4CB"/>
        </a:accent6>
        <a:hlink>
          <a:srgbClr val="FFCC00"/>
        </a:hlink>
        <a:folHlink>
          <a:srgbClr val="586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FFFFFF"/>
        </a:dk2>
        <a:lt2>
          <a:srgbClr val="3333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CDCDC"/>
        </a:accent4>
        <a:accent5>
          <a:srgbClr val="ADCAB9"/>
        </a:accent5>
        <a:accent6>
          <a:srgbClr val="8989E5"/>
        </a:accent6>
        <a:hlink>
          <a:srgbClr val="FFFF99"/>
        </a:hlink>
        <a:folHlink>
          <a:srgbClr val="17A0D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54418"/>
        </a:lt1>
        <a:dk2>
          <a:srgbClr val="FFFFFF"/>
        </a:dk2>
        <a:lt2>
          <a:srgbClr val="808000"/>
        </a:lt2>
        <a:accent1>
          <a:srgbClr val="60897C"/>
        </a:accent1>
        <a:accent2>
          <a:srgbClr val="99CC00"/>
        </a:accent2>
        <a:accent3>
          <a:srgbClr val="AEB0AA"/>
        </a:accent3>
        <a:accent4>
          <a:srgbClr val="DCDCDC"/>
        </a:accent4>
        <a:accent5>
          <a:srgbClr val="B7C4BF"/>
        </a:accent5>
        <a:accent6>
          <a:srgbClr val="89B700"/>
        </a:accent6>
        <a:hlink>
          <a:srgbClr val="CCCC00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0</TotalTime>
  <Words>667</Words>
  <Application>WPS 演示</Application>
  <PresentationFormat>在屏幕上显示</PresentationFormat>
  <Paragraphs>101</Paragraphs>
  <Slides>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Times New Roman</vt:lpstr>
      <vt:lpstr>Arial Black</vt:lpstr>
      <vt:lpstr>楷体_GB2312</vt:lpstr>
      <vt:lpstr>微软雅黑</vt:lpstr>
      <vt:lpstr>Arial Unicode MS</vt:lpstr>
      <vt:lpstr>新宋体</vt:lpstr>
      <vt:lpstr>Radial</vt:lpstr>
      <vt:lpstr>Photoshop.Image.8</vt:lpstr>
      <vt:lpstr>Photoshop.Image.8</vt:lpstr>
      <vt:lpstr>Photoshop.Image.8</vt:lpstr>
      <vt:lpstr>§2－1  金属的晶体结构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Administrator</cp:lastModifiedBy>
  <cp:revision>38</cp:revision>
  <dcterms:created xsi:type="dcterms:W3CDTF">2007-05-06T07:50:00Z</dcterms:created>
  <dcterms:modified xsi:type="dcterms:W3CDTF">2018-01-23T13:21:30Z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2052-10.1.0.7022</vt:lpwstr>
  </property>
</Properties>
</file>